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38" r:id="rId3"/>
    <p:sldId id="362" r:id="rId4"/>
    <p:sldId id="353" r:id="rId5"/>
    <p:sldId id="354" r:id="rId6"/>
    <p:sldId id="355" r:id="rId7"/>
    <p:sldId id="363" r:id="rId8"/>
    <p:sldId id="364" r:id="rId9"/>
    <p:sldId id="369" r:id="rId10"/>
    <p:sldId id="365" r:id="rId11"/>
    <p:sldId id="368" r:id="rId12"/>
    <p:sldId id="366" r:id="rId13"/>
    <p:sldId id="367" r:id="rId14"/>
    <p:sldId id="370" r:id="rId15"/>
    <p:sldId id="371" r:id="rId16"/>
    <p:sldId id="372" r:id="rId17"/>
    <p:sldId id="373" r:id="rId18"/>
    <p:sldId id="376" r:id="rId19"/>
    <p:sldId id="276" r:id="rId20"/>
  </p:sldIdLst>
  <p:sldSz cx="12599988" cy="8999538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6169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23396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85094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46792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3084903" algn="l" defTabSz="123396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701883" algn="l" defTabSz="123396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4318865" algn="l" defTabSz="123396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935845" algn="l" defTabSz="123396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5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EAEAEA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088" autoAdjust="0"/>
  </p:normalViewPr>
  <p:slideViewPr>
    <p:cSldViewPr>
      <p:cViewPr varScale="1">
        <p:scale>
          <a:sx n="57" d="100"/>
          <a:sy n="57" d="100"/>
        </p:scale>
        <p:origin x="1188" y="66"/>
      </p:cViewPr>
      <p:guideLst>
        <p:guide orient="horz" pos="2835"/>
        <p:guide pos="39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5A18F-14A0-40EB-80B5-CBA417A68281}" type="datetimeFigureOut">
              <a:rPr lang="en-US" smtClean="0"/>
              <a:t>11/9/2020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1143000"/>
            <a:ext cx="4318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F2D6A-AD11-4A56-B206-3CC42EABA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0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616980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1233962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850942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2467923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3084903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3701883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4318865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4935845" algn="l" defTabSz="1233962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9" name="Object 17"/>
          <p:cNvGraphicFramePr>
            <a:graphicFrameLocks noChangeAspect="1"/>
          </p:cNvGraphicFramePr>
          <p:nvPr/>
        </p:nvGraphicFramePr>
        <p:xfrm>
          <a:off x="2913747" y="0"/>
          <a:ext cx="9686241" cy="429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Image" r:id="rId3" imgW="6565079" imgH="4761905" progId="">
                  <p:embed/>
                </p:oleObj>
              </mc:Choice>
              <mc:Fallback>
                <p:oleObj name="Image" r:id="rId3" imgW="6565079" imgH="4761905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2913747" y="0"/>
                        <a:ext cx="9686241" cy="4299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Rectangle 18"/>
          <p:cNvSpPr>
            <a:spLocks noChangeArrowheads="1"/>
          </p:cNvSpPr>
          <p:nvPr/>
        </p:nvSpPr>
        <p:spPr bwMode="gray">
          <a:xfrm>
            <a:off x="0" y="0"/>
            <a:ext cx="2939997" cy="419978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gray">
          <a:xfrm>
            <a:off x="0" y="4199785"/>
            <a:ext cx="12599988" cy="599969"/>
          </a:xfrm>
          <a:prstGeom prst="rect">
            <a:avLst/>
          </a:prstGeom>
          <a:solidFill>
            <a:schemeClr val="tx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gray">
          <a:xfrm>
            <a:off x="0" y="4399774"/>
            <a:ext cx="2939997" cy="459976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black">
          <a:xfrm>
            <a:off x="3149997" y="5399723"/>
            <a:ext cx="8819992" cy="1999897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939997" y="4241449"/>
            <a:ext cx="8924992" cy="499974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34995" y="8541228"/>
            <a:ext cx="2939997" cy="19999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29992" y="8499566"/>
            <a:ext cx="2939997" cy="220822"/>
          </a:xfr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DBFB8728-9D02-4D5A-8B08-16CAC79E1C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E0E7F8-F21A-40AC-93AF-184E2ED2DB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5783037"/>
            <a:ext cx="10709990" cy="17874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814390"/>
            <a:ext cx="10709990" cy="196864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7918C-FA71-4ED3-83BD-87149979D2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412430"/>
            <a:ext cx="5564995" cy="68871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412430"/>
            <a:ext cx="5564995" cy="68871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94E62-9082-40CB-96D8-7635D10E19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0" y="360399"/>
            <a:ext cx="11339989" cy="14999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999" y="2014480"/>
            <a:ext cx="5567183" cy="8395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99" y="2854020"/>
            <a:ext cx="5567183" cy="51851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2014480"/>
            <a:ext cx="5569370" cy="8395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854020"/>
            <a:ext cx="5569370" cy="51851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4B544-A231-47F6-8F7F-8AC5977C4B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BBAD1-B930-41C4-8115-52617F44C7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8401B-8C46-4EDC-98E9-1B2364AC5A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2" y="358315"/>
            <a:ext cx="4145309" cy="15249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358317"/>
            <a:ext cx="7043743" cy="76808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2" y="1883238"/>
            <a:ext cx="4145309" cy="61559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35D8FD-74FA-4DA5-97DC-0894874F76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6" y="6299678"/>
            <a:ext cx="7559993" cy="7437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6" y="804125"/>
            <a:ext cx="7559993" cy="53997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6" y="7043390"/>
            <a:ext cx="7559993" cy="10561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9DBDB9-6FB8-4178-9417-354DB18C91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57C9D-7046-45DF-8EB2-A6D1AEA9F9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199990"/>
            <a:ext cx="2834997" cy="80995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199990"/>
            <a:ext cx="8294992" cy="80995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34CFC5-6DB8-4ECE-8F53-BBC381F0FE6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0" y="199992"/>
            <a:ext cx="11339989" cy="7395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30000" y="1412430"/>
            <a:ext cx="11339989" cy="688714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618309"/>
            <a:ext cx="3359997" cy="28123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039995" y="8597476"/>
            <a:ext cx="2939997" cy="316650"/>
          </a:xfrm>
        </p:spPr>
        <p:txBody>
          <a:bodyPr/>
          <a:lstStyle>
            <a:lvl1pPr>
              <a:defRPr/>
            </a:lvl1pPr>
          </a:lstStyle>
          <a:p>
            <a:fld id="{3175DFDC-9BF0-46AB-A181-A5A3A153F7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0" y="2"/>
            <a:ext cx="12599988" cy="100619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gray">
          <a:xfrm>
            <a:off x="0" y="8612058"/>
            <a:ext cx="12599988" cy="39997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2" name="AutoShape 18"/>
          <p:cNvSpPr>
            <a:spLocks noChangeArrowheads="1"/>
          </p:cNvSpPr>
          <p:nvPr/>
        </p:nvSpPr>
        <p:spPr bwMode="gray">
          <a:xfrm>
            <a:off x="183750" y="8372488"/>
            <a:ext cx="420000" cy="439560"/>
          </a:xfrm>
          <a:prstGeom prst="diamond">
            <a:avLst/>
          </a:prstGeom>
          <a:solidFill>
            <a:schemeClr val="accent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524999" y="8618309"/>
            <a:ext cx="3359997" cy="28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8819992" y="8597476"/>
            <a:ext cx="3254997" cy="31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5039995" y="8597476"/>
            <a:ext cx="2939997" cy="31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8BB34F31-AAF7-4D13-8075-5CD49AEFD0D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white">
          <a:xfrm>
            <a:off x="11234989" y="343733"/>
            <a:ext cx="13649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LOGO</a:t>
            </a:r>
          </a:p>
        </p:txBody>
      </p:sp>
      <p:sp>
        <p:nvSpPr>
          <p:cNvPr id="1038" name="AutoShape 14"/>
          <p:cNvSpPr>
            <a:spLocks noChangeArrowheads="1"/>
          </p:cNvSpPr>
          <p:nvPr/>
        </p:nvSpPr>
        <p:spPr bwMode="auto">
          <a:xfrm rot="5400000">
            <a:off x="11663958" y="-286576"/>
            <a:ext cx="358315" cy="1185624"/>
          </a:xfrm>
          <a:prstGeom prst="moon">
            <a:avLst>
              <a:gd name="adj" fmla="val 21208"/>
            </a:avLst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0709990" y="2"/>
            <a:ext cx="1889998" cy="997866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630000" y="199992"/>
            <a:ext cx="11339989" cy="73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gray">
          <a:xfrm>
            <a:off x="10709990" y="999948"/>
            <a:ext cx="1889998" cy="6299677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0000" y="1412430"/>
            <a:ext cx="11339989" cy="6887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91682" y="5363865"/>
            <a:ext cx="8585994" cy="1861472"/>
          </a:xfrm>
        </p:spPr>
        <p:txBody>
          <a:bodyPr/>
          <a:lstStyle/>
          <a:p>
            <a:pPr algn="ctr"/>
            <a:r>
              <a:rPr lang="en-US" sz="3200" dirty="0" err="1"/>
              <a:t>Sosialisasi</a:t>
            </a:r>
            <a:r>
              <a:rPr lang="en-US" sz="3200" dirty="0"/>
              <a:t> </a:t>
            </a:r>
            <a:r>
              <a:rPr lang="en-US" sz="3200" dirty="0" err="1"/>
              <a:t>Kelompok</a:t>
            </a:r>
            <a:r>
              <a:rPr lang="en-US" sz="3200" dirty="0"/>
              <a:t> </a:t>
            </a:r>
            <a:r>
              <a:rPr lang="en-US" sz="3200" dirty="0" err="1"/>
              <a:t>Keilmuan</a:t>
            </a:r>
            <a:r>
              <a:rPr lang="en-US" sz="3200" dirty="0"/>
              <a:t> (KK)</a:t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4400" dirty="0" err="1">
                <a:solidFill>
                  <a:schemeClr val="accent1"/>
                </a:solidFill>
              </a:rPr>
              <a:t>Sistem</a:t>
            </a:r>
            <a:r>
              <a:rPr lang="en-US" sz="4400" dirty="0">
                <a:solidFill>
                  <a:schemeClr val="accent1"/>
                </a:solidFill>
              </a:rPr>
              <a:t> </a:t>
            </a:r>
            <a:r>
              <a:rPr lang="en-US" sz="4400" dirty="0" err="1">
                <a:solidFill>
                  <a:schemeClr val="accent1"/>
                </a:solidFill>
              </a:rPr>
              <a:t>Informasi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MATA KULIAH PROPOSAL</a:t>
            </a:r>
          </a:p>
        </p:txBody>
      </p:sp>
      <p:pic>
        <p:nvPicPr>
          <p:cNvPr id="5" name="Picture 4" descr="logo IF-bw PS 26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95338" y="1043385"/>
            <a:ext cx="2098222" cy="209822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Kelompok</a:t>
            </a:r>
            <a:r>
              <a:rPr lang="en-US" sz="3600" dirty="0"/>
              <a:t> </a:t>
            </a:r>
            <a:r>
              <a:rPr lang="en-US" sz="3600" dirty="0" err="1"/>
              <a:t>Keilmuan</a:t>
            </a:r>
            <a:r>
              <a:rPr lang="en-US" sz="3600" dirty="0"/>
              <a:t> </a:t>
            </a:r>
            <a:r>
              <a:rPr lang="en-US" sz="3600" dirty="0" err="1"/>
              <a:t>Sistem</a:t>
            </a:r>
            <a:r>
              <a:rPr lang="en-US" sz="3600" dirty="0"/>
              <a:t> </a:t>
            </a:r>
            <a:r>
              <a:rPr lang="en-US" sz="3600" dirty="0" err="1"/>
              <a:t>Informasi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314" y="2627560"/>
            <a:ext cx="4752528" cy="4248473"/>
          </a:xfrm>
        </p:spPr>
        <p:txBody>
          <a:bodyPr/>
          <a:lstStyle/>
          <a:p>
            <a:pPr marL="855663" indent="-635000"/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Riani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Lubis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L="855663" indent="-635000"/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Utami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Dewi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pPr marL="855663" indent="-635000"/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Anna Dara</a:t>
            </a:r>
          </a:p>
          <a:p>
            <a:pPr marL="855663" indent="-635000"/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Sufa’atin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pPr marL="855663" indent="-635000"/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Rani </a:t>
            </a:r>
            <a:r>
              <a:rPr lang="en-US" sz="3200" dirty="0" err="1">
                <a:solidFill>
                  <a:schemeClr val="accent2">
                    <a:lumMod val="50000"/>
                  </a:schemeClr>
                </a:solidFill>
              </a:rPr>
              <a:t>Susanto</a:t>
            </a:r>
            <a:endParaRPr lang="en-US" sz="3200" dirty="0">
              <a:solidFill>
                <a:schemeClr val="accent2">
                  <a:lumMod val="50000"/>
                </a:schemeClr>
              </a:solidFill>
            </a:endParaRPr>
          </a:p>
          <a:p>
            <a:pPr marL="855663" indent="-635000"/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Tati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Harihayati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pPr marL="855663" indent="-635000"/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Gentisya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74" y="1115393"/>
            <a:ext cx="7429500" cy="7429500"/>
          </a:xfrm>
          <a:prstGeom prst="rect">
            <a:avLst/>
          </a:prstGeom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184513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/>
          <p:cNvSpPr>
            <a:spLocks noGrp="1"/>
          </p:cNvSpPr>
          <p:nvPr>
            <p:ph type="title"/>
          </p:nvPr>
        </p:nvSpPr>
        <p:spPr>
          <a:xfrm>
            <a:off x="611362" y="179289"/>
            <a:ext cx="8229600" cy="685800"/>
          </a:xfrm>
        </p:spPr>
        <p:txBody>
          <a:bodyPr/>
          <a:lstStyle/>
          <a:p>
            <a:pPr eaLnBrk="1" hangingPunct="1"/>
            <a:r>
              <a:rPr lang="en-US" sz="3600" dirty="0"/>
              <a:t>Level </a:t>
            </a:r>
            <a:r>
              <a:rPr lang="en-US" sz="3600" dirty="0" err="1"/>
              <a:t>Manajemen</a:t>
            </a:r>
            <a:r>
              <a:rPr lang="en-US" sz="36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1680" y="1547441"/>
            <a:ext cx="6186986" cy="6120680"/>
          </a:xfrm>
        </p:spPr>
        <p:txBody>
          <a:bodyPr/>
          <a:lstStyle/>
          <a:p>
            <a:pPr algn="just">
              <a:spcBef>
                <a:spcPts val="0"/>
              </a:spcBef>
              <a:defRPr/>
            </a:pPr>
            <a:r>
              <a:rPr lang="en-US" sz="2400" dirty="0" err="1">
                <a:solidFill>
                  <a:schemeClr val="tx1"/>
                </a:solidFill>
              </a:rPr>
              <a:t>Kebutuhan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informasi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dalam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suatu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organisasi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ditentukan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oleh</a:t>
            </a:r>
            <a:r>
              <a:rPr lang="en-US" sz="2400" dirty="0">
                <a:solidFill>
                  <a:schemeClr val="tx1"/>
                </a:solidFill>
              </a:rPr>
              <a:t> level </a:t>
            </a:r>
            <a:r>
              <a:rPr lang="en-US" sz="2400" dirty="0" err="1">
                <a:solidFill>
                  <a:schemeClr val="tx1"/>
                </a:solidFill>
              </a:rPr>
              <a:t>manajemen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pihak</a:t>
            </a:r>
            <a:r>
              <a:rPr lang="en-US" sz="2400" dirty="0">
                <a:solidFill>
                  <a:schemeClr val="tx1"/>
                </a:solidFill>
              </a:rPr>
              <a:t> non-</a:t>
            </a:r>
            <a:r>
              <a:rPr lang="en-US" sz="2400" dirty="0" err="1">
                <a:solidFill>
                  <a:schemeClr val="tx1"/>
                </a:solidFill>
              </a:rPr>
              <a:t>manajemen</a:t>
            </a:r>
            <a:r>
              <a:rPr lang="en-US" sz="2400" dirty="0">
                <a:solidFill>
                  <a:schemeClr val="tx1"/>
                </a:solidFill>
              </a:rPr>
              <a:t> yang </a:t>
            </a:r>
            <a:r>
              <a:rPr lang="en-US" sz="2400" dirty="0" err="1">
                <a:solidFill>
                  <a:schemeClr val="tx1"/>
                </a:solidFill>
              </a:rPr>
              <a:t>akan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menggunakan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informasi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 err="1">
                <a:solidFill>
                  <a:schemeClr val="tx1"/>
                </a:solidFill>
              </a:rPr>
              <a:t>Oleh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karena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itu</a:t>
            </a:r>
            <a:r>
              <a:rPr lang="en-US" sz="2400" dirty="0">
                <a:solidFill>
                  <a:schemeClr val="tx1"/>
                </a:solidFill>
              </a:rPr>
              <a:t>, SI yang </a:t>
            </a:r>
            <a:r>
              <a:rPr lang="en-US" sz="2400" dirty="0" err="1">
                <a:solidFill>
                  <a:schemeClr val="tx1"/>
                </a:solidFill>
              </a:rPr>
              <a:t>dibangun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atau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dipakai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dalam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sebuah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organisasi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perlu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u="sng" dirty="0" err="1">
                <a:solidFill>
                  <a:srgbClr val="FF0000"/>
                </a:solidFill>
              </a:rPr>
              <a:t>mengako-modasi</a:t>
            </a:r>
            <a:r>
              <a:rPr lang="en-US" sz="2400" u="sng" dirty="0">
                <a:solidFill>
                  <a:srgbClr val="FF0000"/>
                </a:solidFill>
              </a:rPr>
              <a:t> </a:t>
            </a:r>
            <a:r>
              <a:rPr lang="en-US" sz="2400" u="sng" dirty="0" err="1">
                <a:solidFill>
                  <a:srgbClr val="FF0000"/>
                </a:solidFill>
              </a:rPr>
              <a:t>kebutuhan</a:t>
            </a:r>
            <a:r>
              <a:rPr lang="en-US" sz="2400" u="sng" dirty="0">
                <a:solidFill>
                  <a:srgbClr val="FF0000"/>
                </a:solidFill>
              </a:rPr>
              <a:t> </a:t>
            </a:r>
            <a:r>
              <a:rPr lang="en-US" sz="2400" u="sng" dirty="0" err="1">
                <a:solidFill>
                  <a:srgbClr val="FF0000"/>
                </a:solidFill>
              </a:rPr>
              <a:t>pemakai</a:t>
            </a:r>
            <a:r>
              <a:rPr lang="en-US" sz="2400" u="sng" dirty="0">
                <a:solidFill>
                  <a:srgbClr val="FF0000"/>
                </a:solidFill>
              </a:rPr>
              <a:t> </a:t>
            </a:r>
            <a:r>
              <a:rPr lang="en-US" sz="2400" u="sng" dirty="0" err="1">
                <a:solidFill>
                  <a:srgbClr val="FF0000"/>
                </a:solidFill>
              </a:rPr>
              <a:t>berdasarkan</a:t>
            </a:r>
            <a:r>
              <a:rPr lang="en-US" sz="2400" u="sng" dirty="0">
                <a:solidFill>
                  <a:srgbClr val="FF0000"/>
                </a:solidFill>
              </a:rPr>
              <a:t> level </a:t>
            </a:r>
            <a:r>
              <a:rPr lang="en-US" sz="2400" u="sng" dirty="0" err="1">
                <a:solidFill>
                  <a:srgbClr val="FF0000"/>
                </a:solidFill>
              </a:rPr>
              <a:t>manajemen</a:t>
            </a:r>
            <a:endParaRPr lang="en-US" sz="2400" u="sng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  <a:defRPr/>
            </a:pPr>
            <a:r>
              <a:rPr lang="en-US" sz="2400" dirty="0">
                <a:solidFill>
                  <a:schemeClr val="tx1"/>
                </a:solidFill>
              </a:rPr>
              <a:t>Di </a:t>
            </a:r>
            <a:r>
              <a:rPr lang="en-US" sz="2400" dirty="0" err="1">
                <a:solidFill>
                  <a:schemeClr val="tx1"/>
                </a:solidFill>
              </a:rPr>
              <a:t>dalam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organisasi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tradisional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umumnya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terdapat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3 </a:t>
            </a:r>
            <a:r>
              <a:rPr lang="en-US" sz="2400" dirty="0" err="1">
                <a:solidFill>
                  <a:srgbClr val="FF0000"/>
                </a:solidFill>
              </a:rPr>
              <a:t>kelompok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lvl="1">
              <a:spcBef>
                <a:spcPts val="0"/>
              </a:spcBef>
              <a:defRPr/>
            </a:pPr>
            <a:r>
              <a:rPr lang="en-US" sz="2400" b="1" dirty="0" err="1">
                <a:latin typeface="+mn-lt"/>
                <a:ea typeface="+mn-ea"/>
                <a:cs typeface="+mn-cs"/>
              </a:rPr>
              <a:t>manajemen</a:t>
            </a:r>
            <a:r>
              <a:rPr lang="en-US" sz="2400" b="1" dirty="0">
                <a:latin typeface="+mn-lt"/>
                <a:ea typeface="+mn-ea"/>
                <a:cs typeface="+mn-cs"/>
              </a:rPr>
              <a:t>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tingkat</a:t>
            </a:r>
            <a:r>
              <a:rPr lang="en-US" sz="2400" b="1" dirty="0">
                <a:latin typeface="+mn-lt"/>
                <a:ea typeface="+mn-ea"/>
                <a:cs typeface="+mn-cs"/>
              </a:rPr>
              <a:t>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atas</a:t>
            </a:r>
            <a:endParaRPr lang="en-US" sz="2400" b="1" dirty="0">
              <a:latin typeface="+mn-lt"/>
              <a:ea typeface="+mn-ea"/>
              <a:cs typeface="+mn-cs"/>
            </a:endParaRPr>
          </a:p>
          <a:p>
            <a:pPr lvl="1">
              <a:spcBef>
                <a:spcPts val="0"/>
              </a:spcBef>
              <a:defRPr/>
            </a:pPr>
            <a:r>
              <a:rPr lang="en-US" sz="2400" b="1" dirty="0" err="1">
                <a:latin typeface="+mn-lt"/>
                <a:ea typeface="+mn-ea"/>
                <a:cs typeface="+mn-cs"/>
              </a:rPr>
              <a:t>manajemen</a:t>
            </a:r>
            <a:r>
              <a:rPr lang="en-US" sz="2400" b="1" dirty="0">
                <a:latin typeface="+mn-lt"/>
                <a:ea typeface="+mn-ea"/>
                <a:cs typeface="+mn-cs"/>
              </a:rPr>
              <a:t>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tingkat</a:t>
            </a:r>
            <a:r>
              <a:rPr lang="en-US" sz="2400" b="1" dirty="0">
                <a:latin typeface="+mn-lt"/>
                <a:ea typeface="+mn-ea"/>
                <a:cs typeface="+mn-cs"/>
              </a:rPr>
              <a:t>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menengah</a:t>
            </a:r>
            <a:endParaRPr lang="en-US" sz="2400" b="1" dirty="0">
              <a:latin typeface="+mn-lt"/>
              <a:ea typeface="+mn-ea"/>
              <a:cs typeface="+mn-cs"/>
            </a:endParaRPr>
          </a:p>
          <a:p>
            <a:pPr lvl="1">
              <a:spcBef>
                <a:spcPts val="0"/>
              </a:spcBef>
              <a:defRPr/>
            </a:pPr>
            <a:r>
              <a:rPr lang="en-US" sz="2400" b="1" dirty="0" err="1">
                <a:latin typeface="+mn-lt"/>
                <a:ea typeface="+mn-ea"/>
                <a:cs typeface="+mn-cs"/>
              </a:rPr>
              <a:t>manajemen</a:t>
            </a:r>
            <a:r>
              <a:rPr lang="en-US" sz="2400" b="1" dirty="0">
                <a:latin typeface="+mn-lt"/>
                <a:ea typeface="+mn-ea"/>
                <a:cs typeface="+mn-cs"/>
              </a:rPr>
              <a:t>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tingkat</a:t>
            </a:r>
            <a:r>
              <a:rPr lang="en-US" sz="2400" b="1" dirty="0">
                <a:latin typeface="+mn-lt"/>
                <a:ea typeface="+mn-ea"/>
                <a:cs typeface="+mn-cs"/>
              </a:rPr>
              <a:t>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bawah</a:t>
            </a:r>
            <a:endParaRPr lang="en-US" sz="2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22" y="1547441"/>
            <a:ext cx="5936601" cy="6336704"/>
          </a:xfrm>
          <a:prstGeom prst="rect">
            <a:avLst/>
          </a:prstGeom>
        </p:spPr>
      </p:pic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264931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Syarat</a:t>
            </a:r>
            <a:r>
              <a:rPr lang="en-US" sz="3600" dirty="0"/>
              <a:t> Proposal KK A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Data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dari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harus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tervalidasi</a:t>
            </a:r>
            <a:r>
              <a:rPr lang="en-US" u="sng" dirty="0">
                <a:solidFill>
                  <a:srgbClr val="FF0000"/>
                </a:solidFill>
              </a:rPr>
              <a:t>,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dengan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cara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dijadikan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tempat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penelitian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membuatkan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surat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u="sng" dirty="0" err="1">
                <a:solidFill>
                  <a:srgbClr val="FF0000"/>
                </a:solidFill>
              </a:rPr>
              <a:t>berkop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tersebut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menyatakan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bahwa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data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dibawa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saat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sidang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proposal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adalah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asli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data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dari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sebutkan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data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apa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saja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diberikan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oleh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ke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anda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sebagai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peneliti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lalu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ditandatangani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oleh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pihak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berwenang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di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tersebut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menghindari</a:t>
            </a:r>
            <a:r>
              <a:rPr 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pemalsuan</a:t>
            </a:r>
            <a:r>
              <a:rPr 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data</a:t>
            </a:r>
          </a:p>
          <a:p>
            <a:pPr lvl="0"/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0" algn="just"/>
            <a:r>
              <a:rPr lang="en-US" u="sng" dirty="0">
                <a:solidFill>
                  <a:srgbClr val="FF0000"/>
                </a:solidFill>
              </a:rPr>
              <a:t>SIUP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(yang </a:t>
            </a:r>
            <a:r>
              <a:rPr lang="en-US" u="sng" dirty="0" err="1">
                <a:solidFill>
                  <a:srgbClr val="FF0000"/>
                </a:solidFill>
              </a:rPr>
              <a:t>masih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berlaku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jika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sedang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diperpanjang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harus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disertakan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bukti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perpanjangannya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melalui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situs sipo.kemendag.go.id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atau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api.kemendag.go.id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69460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Syarat</a:t>
            </a:r>
            <a:r>
              <a:rPr lang="en-US" sz="3600" dirty="0"/>
              <a:t> Proposal KK A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Struktur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organisasi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beserta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tugas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wewenangnya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disertakan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wajib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diberi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validasi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dari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perusahaan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mengambil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tema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manajemen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proyek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harus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membawa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dua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struktur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organisasi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yaitu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struktur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organisasi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perusahaan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struktur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organisasi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proyek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membawa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bukti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berupa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laporan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proyek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sudah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dikerjakan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minimal </a:t>
            </a:r>
            <a:r>
              <a:rPr lang="en-US" u="sng" dirty="0" err="1">
                <a:solidFill>
                  <a:srgbClr val="FF0000"/>
                </a:solidFill>
              </a:rPr>
              <a:t>dua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buah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proyek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). </a:t>
            </a:r>
          </a:p>
          <a:p>
            <a:pPr lvl="0" algn="just"/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0" algn="just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Data yang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digunakan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sebagai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dasar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memprediksi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contohnya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peramalan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harus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minimal </a:t>
            </a:r>
            <a:r>
              <a:rPr lang="en-US" u="sng" dirty="0" err="1">
                <a:solidFill>
                  <a:srgbClr val="FF0000"/>
                </a:solidFill>
              </a:rPr>
              <a:t>dua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tahun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sebelumnya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agar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pola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bisa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diketahui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metode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dipilih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akan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tepat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392973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Syarat</a:t>
            </a:r>
            <a:r>
              <a:rPr lang="en-US" sz="3600" dirty="0"/>
              <a:t> Proposal KK A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Jurnal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dijadikan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state of the art minimal 5 </a:t>
            </a:r>
            <a:r>
              <a:rPr lang="en-US" u="sng" dirty="0" err="1">
                <a:solidFill>
                  <a:srgbClr val="FF0000"/>
                </a:solidFill>
              </a:rPr>
              <a:t>jurnal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dan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jurnalnya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harus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dibawa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saat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sidang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proposal</a:t>
            </a:r>
          </a:p>
          <a:p>
            <a:pPr lvl="0" algn="just"/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0" algn="just"/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Membawa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u="sng" dirty="0">
                <a:solidFill>
                  <a:srgbClr val="FF0000"/>
                </a:solidFill>
              </a:rPr>
              <a:t>model </a:t>
            </a:r>
            <a:r>
              <a:rPr lang="en-US" u="sng" dirty="0" err="1">
                <a:solidFill>
                  <a:srgbClr val="FF0000"/>
                </a:solidFill>
              </a:rPr>
              <a:t>dari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sistem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akan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dibangun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dalam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bentuk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gambar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berlaku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semua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err="1">
                <a:solidFill>
                  <a:srgbClr val="FF0000"/>
                </a:solidFill>
              </a:rPr>
              <a:t>tema</a:t>
            </a:r>
            <a:r>
              <a:rPr lang="en-US" u="sng" dirty="0">
                <a:solidFill>
                  <a:srgbClr val="FF0000"/>
                </a:solidFill>
              </a:rPr>
              <a:t> yang </a:t>
            </a:r>
            <a:r>
              <a:rPr lang="en-US" u="sng" dirty="0" err="1">
                <a:solidFill>
                  <a:srgbClr val="FF0000"/>
                </a:solidFill>
              </a:rPr>
              <a:t>ada</a:t>
            </a:r>
            <a:r>
              <a:rPr lang="en-US" u="sng" dirty="0">
                <a:solidFill>
                  <a:srgbClr val="FF0000"/>
                </a:solidFill>
              </a:rPr>
              <a:t> di KK SI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51721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Fish Bone </a:t>
            </a:r>
            <a:r>
              <a:rPr lang="en-US" sz="3600" dirty="0" err="1"/>
              <a:t>Penelitian</a:t>
            </a:r>
            <a:r>
              <a:rPr lang="en-US" sz="3600" dirty="0"/>
              <a:t> </a:t>
            </a:r>
            <a:r>
              <a:rPr lang="en-US" sz="3600" dirty="0" err="1"/>
              <a:t>Skripsi</a:t>
            </a:r>
            <a:r>
              <a:rPr lang="en-US" sz="3600" dirty="0"/>
              <a:t> KK 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385"/>
            <a:ext cx="12599988" cy="7482083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355913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Syarat</a:t>
            </a:r>
            <a:r>
              <a:rPr lang="en-US" sz="4400" dirty="0"/>
              <a:t> SCM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322" y="1412430"/>
            <a:ext cx="12097344" cy="6887146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objek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penelitian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TA/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Skripsi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memiliki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u="sng" dirty="0">
                <a:solidFill>
                  <a:srgbClr val="FF0000"/>
                </a:solidFill>
              </a:rPr>
              <a:t>min. </a:t>
            </a:r>
            <a:r>
              <a:rPr lang="en-US" sz="3600" u="sng" dirty="0" err="1">
                <a:solidFill>
                  <a:srgbClr val="FF0000"/>
                </a:solidFill>
              </a:rPr>
              <a:t>dua</a:t>
            </a:r>
            <a:r>
              <a:rPr lang="en-US" sz="3600" u="sng" dirty="0">
                <a:solidFill>
                  <a:srgbClr val="FF0000"/>
                </a:solidFill>
              </a:rPr>
              <a:t> </a:t>
            </a:r>
            <a:r>
              <a:rPr lang="en-US" sz="3600" u="sng" dirty="0" err="1">
                <a:solidFill>
                  <a:srgbClr val="FF0000"/>
                </a:solidFill>
              </a:rPr>
              <a:t>pemasok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US" sz="3600" u="sng" dirty="0" err="1">
                <a:solidFill>
                  <a:srgbClr val="FF0000"/>
                </a:solidFill>
              </a:rPr>
              <a:t>memasok</a:t>
            </a:r>
            <a:r>
              <a:rPr lang="en-US" sz="3600" u="sng" dirty="0">
                <a:solidFill>
                  <a:srgbClr val="FF0000"/>
                </a:solidFill>
              </a:rPr>
              <a:t> </a:t>
            </a:r>
            <a:r>
              <a:rPr lang="en-US" sz="3600" u="sng" dirty="0" err="1">
                <a:solidFill>
                  <a:srgbClr val="FF0000"/>
                </a:solidFill>
              </a:rPr>
              <a:t>satu</a:t>
            </a:r>
            <a:r>
              <a:rPr lang="en-US" sz="3600" u="sng" dirty="0">
                <a:solidFill>
                  <a:srgbClr val="FF0000"/>
                </a:solidFill>
              </a:rPr>
              <a:t> </a:t>
            </a:r>
            <a:r>
              <a:rPr lang="en-US" sz="3600" u="sng" dirty="0" err="1">
                <a:solidFill>
                  <a:srgbClr val="FF0000"/>
                </a:solidFill>
              </a:rPr>
              <a:t>bahan</a:t>
            </a:r>
            <a:r>
              <a:rPr lang="en-US" sz="3600" u="sng" dirty="0">
                <a:solidFill>
                  <a:srgbClr val="FF0000"/>
                </a:solidFill>
              </a:rPr>
              <a:t> </a:t>
            </a:r>
            <a:r>
              <a:rPr lang="en-US" sz="3600" u="sng" dirty="0" err="1">
                <a:solidFill>
                  <a:srgbClr val="FF0000"/>
                </a:solidFill>
              </a:rPr>
              <a:t>baku</a:t>
            </a:r>
            <a:endParaRPr lang="en-US" sz="3600" u="sng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</a:pPr>
            <a:endParaRPr lang="en-US" sz="3600" dirty="0"/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data yang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</a:rPr>
              <a:t>diolah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</a:rPr>
              <a:t>cukup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</a:rPr>
              <a:t>banyak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</a:rPr>
              <a:t>terutama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 data </a:t>
            </a:r>
            <a:r>
              <a:rPr lang="en-US" sz="3600" dirty="0" err="1">
                <a:solidFill>
                  <a:schemeClr val="tx2">
                    <a:lumMod val="75000"/>
                  </a:schemeClr>
                </a:solidFill>
              </a:rPr>
              <a:t>transaksi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algn="just">
              <a:spcBef>
                <a:spcPts val="0"/>
              </a:spcBef>
            </a:pPr>
            <a:endParaRPr lang="en-US" sz="3600" dirty="0"/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Proses yang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dibahas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mengenai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perencanaan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pengadaan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, monitoring,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evaluasi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, packing,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penjadwalan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dan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pengiriman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87858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Lingkup</a:t>
            </a:r>
            <a:r>
              <a:rPr lang="en-US" dirty="0"/>
              <a:t> SCM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00271" y="1475967"/>
          <a:ext cx="10974859" cy="670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3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1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40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Bagian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119994" marR="119994" marT="59997" marB="599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Lingkup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Kegiatan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119994" marR="119994" marT="59997" marB="5999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998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Pengembangan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Produk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19994" marR="119994" marT="59997" marB="5999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Melakukan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riset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pasar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merancang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produk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baru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melibatkan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pemasok</a:t>
                      </a:r>
                      <a:endParaRPr lang="en-US" sz="24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119994" marR="119994" marT="59997" marB="5999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920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Pengadaan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19994" marR="119994" marT="59997" marB="5999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Memilih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pemasok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mengevaluasi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kinerja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pemasok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memonitor</a:t>
                      </a:r>
                      <a:r>
                        <a:rPr lang="en-US" sz="2400" b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supply risk, </a:t>
                      </a:r>
                      <a:r>
                        <a:rPr lang="en-US" sz="2400" b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membina</a:t>
                      </a:r>
                      <a:r>
                        <a:rPr lang="en-US" sz="2400" b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dan</a:t>
                      </a:r>
                      <a:r>
                        <a:rPr lang="en-US" sz="2400" b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memelihara</a:t>
                      </a:r>
                      <a:r>
                        <a:rPr lang="en-US" sz="2400" b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hubungan</a:t>
                      </a:r>
                      <a:r>
                        <a:rPr lang="en-US" sz="2400" b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dengan</a:t>
                      </a:r>
                      <a:r>
                        <a:rPr lang="en-US" sz="2400" b="1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pemasok</a:t>
                      </a:r>
                      <a:endParaRPr lang="en-US" sz="2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119994" marR="119994" marT="59997" marB="5999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9938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Perencanaan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dan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Pengendalian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19994" marR="119994" marT="59997" marB="5999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Demand planning,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peramalan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permintaan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perencanaan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kapasitas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perencanaan</a:t>
                      </a:r>
                      <a:r>
                        <a:rPr lang="en-US" sz="24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produksi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persediaan</a:t>
                      </a:r>
                      <a:endParaRPr lang="en-US" sz="24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119994" marR="119994" marT="59997" marB="5999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7998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Produksi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19994" marR="119994" marT="59997" marB="5999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Eksekusi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produksi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pengendalian</a:t>
                      </a:r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kualitas</a:t>
                      </a:r>
                      <a:endParaRPr lang="en-US" sz="24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119994" marR="119994" marT="59997" marB="5999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9938"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Distribusi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19994" marR="119994" marT="59997" marB="59997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Perencanaan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jaringan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distribusi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penjadwalan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pengiriman</a:t>
                      </a:r>
                      <a:r>
                        <a:rPr lang="en-US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en-US" sz="24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memonitor</a:t>
                      </a:r>
                      <a:r>
                        <a:rPr lang="en-US" sz="24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service level di </a:t>
                      </a:r>
                      <a:r>
                        <a:rPr lang="en-US" sz="24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tiap</a:t>
                      </a:r>
                      <a:r>
                        <a:rPr lang="en-US" sz="24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pusat</a:t>
                      </a:r>
                      <a:r>
                        <a:rPr lang="en-US" sz="24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24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distribusi</a:t>
                      </a:r>
                      <a:endParaRPr lang="en-US" sz="24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119994" marR="119994" marT="59997" marB="5999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54557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Syarat</a:t>
            </a:r>
            <a:r>
              <a:rPr lang="en-US" sz="4000" dirty="0"/>
              <a:t>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Tingkatan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masalah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berada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di </a:t>
            </a:r>
            <a:r>
              <a:rPr lang="en-US" sz="3200" u="sng" dirty="0">
                <a:solidFill>
                  <a:srgbClr val="FF0000"/>
                </a:solidFill>
              </a:rPr>
              <a:t>level </a:t>
            </a:r>
            <a:r>
              <a:rPr lang="en-US" sz="3200" u="sng" dirty="0" err="1">
                <a:solidFill>
                  <a:srgbClr val="FF0000"/>
                </a:solidFill>
              </a:rPr>
              <a:t>menengah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atau</a:t>
            </a:r>
            <a:r>
              <a:rPr lang="en-US" sz="3200" u="sng" dirty="0">
                <a:solidFill>
                  <a:srgbClr val="FF0000"/>
                </a:solidFill>
              </a:rPr>
              <a:t> level </a:t>
            </a:r>
            <a:r>
              <a:rPr lang="en-US" sz="3200" u="sng" dirty="0" err="1">
                <a:solidFill>
                  <a:srgbClr val="FF0000"/>
                </a:solidFill>
              </a:rPr>
              <a:t>atas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dari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suatu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manajemen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organisasi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sehingga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CRM yang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dibangun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akan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relevan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dengan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hal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tersebut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. (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bersifat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analitikal</a:t>
            </a:r>
            <a:r>
              <a:rPr lang="en-US" sz="3200" u="sng" dirty="0">
                <a:solidFill>
                  <a:srgbClr val="FF0000"/>
                </a:solidFill>
              </a:rPr>
              <a:t> CRM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atau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u="sng" dirty="0">
                <a:solidFill>
                  <a:srgbClr val="FF0000"/>
                </a:solidFill>
              </a:rPr>
              <a:t>collaborative CRM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algn="just">
              <a:spcBef>
                <a:spcPts val="0"/>
              </a:spcBef>
            </a:pPr>
            <a:endParaRPr lang="en-US" sz="3200" dirty="0"/>
          </a:p>
          <a:p>
            <a:pPr algn="just"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CRM yang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akan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dibangun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berdasarkan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masalah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pada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aktivitas-aktivitas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prapenjualan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pascapenjualan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dalam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sebuah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organisasi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US" sz="3200" u="sng" dirty="0" err="1">
                <a:solidFill>
                  <a:srgbClr val="FF0000"/>
                </a:solidFill>
              </a:rPr>
              <a:t>berorientasi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pada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pelanggan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algn="just">
              <a:spcBef>
                <a:spcPts val="0"/>
              </a:spcBef>
            </a:pP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209180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76" y="-54982"/>
            <a:ext cx="10799445" cy="1099943"/>
          </a:xfrm>
        </p:spPr>
        <p:txBody>
          <a:bodyPr/>
          <a:lstStyle/>
          <a:p>
            <a:pPr eaLnBrk="1" hangingPunct="1"/>
            <a:r>
              <a:rPr lang="en-US" sz="4199" dirty="0" err="1"/>
              <a:t>Komponen</a:t>
            </a:r>
            <a:r>
              <a:rPr lang="en-US" sz="4199" dirty="0"/>
              <a:t> CRM</a:t>
            </a:r>
          </a:p>
        </p:txBody>
      </p:sp>
      <p:grpSp>
        <p:nvGrpSpPr>
          <p:cNvPr id="22531" name="Group 4"/>
          <p:cNvGrpSpPr>
            <a:grpSpLocks/>
          </p:cNvGrpSpPr>
          <p:nvPr/>
        </p:nvGrpSpPr>
        <p:grpSpPr bwMode="auto">
          <a:xfrm>
            <a:off x="1100261" y="2899851"/>
            <a:ext cx="10599455" cy="5399723"/>
            <a:chOff x="1556" y="3230"/>
            <a:chExt cx="5845" cy="4504"/>
          </a:xfrm>
        </p:grpSpPr>
        <p:sp>
          <p:nvSpPr>
            <p:cNvPr id="22535" name="Line 5"/>
            <p:cNvSpPr>
              <a:spLocks noChangeShapeType="1"/>
            </p:cNvSpPr>
            <p:nvPr/>
          </p:nvSpPr>
          <p:spPr bwMode="auto">
            <a:xfrm flipH="1">
              <a:off x="4655" y="3654"/>
              <a:ext cx="148" cy="2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36" name="Line 6"/>
            <p:cNvSpPr>
              <a:spLocks noChangeShapeType="1"/>
            </p:cNvSpPr>
            <p:nvPr/>
          </p:nvSpPr>
          <p:spPr bwMode="auto">
            <a:xfrm flipH="1">
              <a:off x="4685" y="4931"/>
              <a:ext cx="25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37" name="Line 7"/>
            <p:cNvSpPr>
              <a:spLocks noChangeShapeType="1"/>
            </p:cNvSpPr>
            <p:nvPr/>
          </p:nvSpPr>
          <p:spPr bwMode="auto">
            <a:xfrm flipH="1">
              <a:off x="6110" y="5073"/>
              <a:ext cx="25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38" name="Line 8"/>
            <p:cNvSpPr>
              <a:spLocks noChangeShapeType="1"/>
            </p:cNvSpPr>
            <p:nvPr/>
          </p:nvSpPr>
          <p:spPr bwMode="auto">
            <a:xfrm flipH="1">
              <a:off x="6110" y="4471"/>
              <a:ext cx="25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39" name="Line 9"/>
            <p:cNvSpPr>
              <a:spLocks noChangeShapeType="1"/>
            </p:cNvSpPr>
            <p:nvPr/>
          </p:nvSpPr>
          <p:spPr bwMode="auto">
            <a:xfrm flipH="1">
              <a:off x="6110" y="3973"/>
              <a:ext cx="25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40" name="Rectangle 10"/>
            <p:cNvSpPr>
              <a:spLocks noChangeArrowheads="1"/>
            </p:cNvSpPr>
            <p:nvPr/>
          </p:nvSpPr>
          <p:spPr bwMode="auto">
            <a:xfrm>
              <a:off x="6301" y="3824"/>
              <a:ext cx="1045" cy="482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/>
                <a:t>Call Center</a:t>
              </a:r>
              <a:endParaRPr lang="en-US" sz="1575"/>
            </a:p>
          </p:txBody>
        </p:sp>
        <p:sp>
          <p:nvSpPr>
            <p:cNvPr id="22541" name="Line 11"/>
            <p:cNvSpPr>
              <a:spLocks noChangeShapeType="1"/>
            </p:cNvSpPr>
            <p:nvPr/>
          </p:nvSpPr>
          <p:spPr bwMode="auto">
            <a:xfrm flipV="1">
              <a:off x="2553" y="4481"/>
              <a:ext cx="376" cy="26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42" name="Line 12"/>
            <p:cNvSpPr>
              <a:spLocks noChangeShapeType="1"/>
            </p:cNvSpPr>
            <p:nvPr/>
          </p:nvSpPr>
          <p:spPr bwMode="auto">
            <a:xfrm>
              <a:off x="2639" y="3774"/>
              <a:ext cx="293" cy="57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43" name="Freeform 13"/>
            <p:cNvSpPr>
              <a:spLocks/>
            </p:cNvSpPr>
            <p:nvPr/>
          </p:nvSpPr>
          <p:spPr bwMode="auto">
            <a:xfrm>
              <a:off x="2889" y="5870"/>
              <a:ext cx="2874" cy="1864"/>
            </a:xfrm>
            <a:custGeom>
              <a:avLst/>
              <a:gdLst>
                <a:gd name="T0" fmla="*/ 123 w 3681"/>
                <a:gd name="T1" fmla="*/ 56 h 2415"/>
                <a:gd name="T2" fmla="*/ 237 w 3681"/>
                <a:gd name="T3" fmla="*/ 21 h 2415"/>
                <a:gd name="T4" fmla="*/ 315 w 3681"/>
                <a:gd name="T5" fmla="*/ 35 h 2415"/>
                <a:gd name="T6" fmla="*/ 337 w 3681"/>
                <a:gd name="T7" fmla="*/ 56 h 2415"/>
                <a:gd name="T8" fmla="*/ 422 w 3681"/>
                <a:gd name="T9" fmla="*/ 76 h 2415"/>
                <a:gd name="T10" fmla="*/ 537 w 3681"/>
                <a:gd name="T11" fmla="*/ 62 h 2415"/>
                <a:gd name="T12" fmla="*/ 715 w 3681"/>
                <a:gd name="T13" fmla="*/ 35 h 2415"/>
                <a:gd name="T14" fmla="*/ 901 w 3681"/>
                <a:gd name="T15" fmla="*/ 0 h 2415"/>
                <a:gd name="T16" fmla="*/ 1044 w 3681"/>
                <a:gd name="T17" fmla="*/ 131 h 2415"/>
                <a:gd name="T18" fmla="*/ 1051 w 3681"/>
                <a:gd name="T19" fmla="*/ 269 h 2415"/>
                <a:gd name="T20" fmla="*/ 1072 w 3681"/>
                <a:gd name="T21" fmla="*/ 289 h 2415"/>
                <a:gd name="T22" fmla="*/ 1115 w 3681"/>
                <a:gd name="T23" fmla="*/ 345 h 2415"/>
                <a:gd name="T24" fmla="*/ 1130 w 3681"/>
                <a:gd name="T25" fmla="*/ 366 h 2415"/>
                <a:gd name="T26" fmla="*/ 1115 w 3681"/>
                <a:gd name="T27" fmla="*/ 393 h 2415"/>
                <a:gd name="T28" fmla="*/ 1265 w 3681"/>
                <a:gd name="T29" fmla="*/ 421 h 2415"/>
                <a:gd name="T30" fmla="*/ 1309 w 3681"/>
                <a:gd name="T31" fmla="*/ 435 h 2415"/>
                <a:gd name="T32" fmla="*/ 1330 w 3681"/>
                <a:gd name="T33" fmla="*/ 441 h 2415"/>
                <a:gd name="T34" fmla="*/ 1394 w 3681"/>
                <a:gd name="T35" fmla="*/ 552 h 2415"/>
                <a:gd name="T36" fmla="*/ 1494 w 3681"/>
                <a:gd name="T37" fmla="*/ 669 h 2415"/>
                <a:gd name="T38" fmla="*/ 1565 w 3681"/>
                <a:gd name="T39" fmla="*/ 676 h 2415"/>
                <a:gd name="T40" fmla="*/ 1608 w 3681"/>
                <a:gd name="T41" fmla="*/ 725 h 2415"/>
                <a:gd name="T42" fmla="*/ 1615 w 3681"/>
                <a:gd name="T43" fmla="*/ 752 h 2415"/>
                <a:gd name="T44" fmla="*/ 1636 w 3681"/>
                <a:gd name="T45" fmla="*/ 787 h 2415"/>
                <a:gd name="T46" fmla="*/ 1693 w 3681"/>
                <a:gd name="T47" fmla="*/ 855 h 2415"/>
                <a:gd name="T48" fmla="*/ 1708 w 3681"/>
                <a:gd name="T49" fmla="*/ 883 h 2415"/>
                <a:gd name="T50" fmla="*/ 1715 w 3681"/>
                <a:gd name="T51" fmla="*/ 918 h 2415"/>
                <a:gd name="T52" fmla="*/ 1729 w 3681"/>
                <a:gd name="T53" fmla="*/ 959 h 2415"/>
                <a:gd name="T54" fmla="*/ 1651 w 3681"/>
                <a:gd name="T55" fmla="*/ 1090 h 2415"/>
                <a:gd name="T56" fmla="*/ 1629 w 3681"/>
                <a:gd name="T57" fmla="*/ 1041 h 2415"/>
                <a:gd name="T58" fmla="*/ 1608 w 3681"/>
                <a:gd name="T59" fmla="*/ 1027 h 2415"/>
                <a:gd name="T60" fmla="*/ 1601 w 3681"/>
                <a:gd name="T61" fmla="*/ 1006 h 2415"/>
                <a:gd name="T62" fmla="*/ 1551 w 3681"/>
                <a:gd name="T63" fmla="*/ 986 h 2415"/>
                <a:gd name="T64" fmla="*/ 1522 w 3681"/>
                <a:gd name="T65" fmla="*/ 973 h 2415"/>
                <a:gd name="T66" fmla="*/ 1436 w 3681"/>
                <a:gd name="T67" fmla="*/ 973 h 2415"/>
                <a:gd name="T68" fmla="*/ 1322 w 3681"/>
                <a:gd name="T69" fmla="*/ 1000 h 2415"/>
                <a:gd name="T70" fmla="*/ 1030 w 3681"/>
                <a:gd name="T71" fmla="*/ 1020 h 2415"/>
                <a:gd name="T72" fmla="*/ 951 w 3681"/>
                <a:gd name="T73" fmla="*/ 1055 h 2415"/>
                <a:gd name="T74" fmla="*/ 837 w 3681"/>
                <a:gd name="T75" fmla="*/ 1111 h 2415"/>
                <a:gd name="T76" fmla="*/ 744 w 3681"/>
                <a:gd name="T77" fmla="*/ 1069 h 2415"/>
                <a:gd name="T78" fmla="*/ 722 w 3681"/>
                <a:gd name="T79" fmla="*/ 1041 h 2415"/>
                <a:gd name="T80" fmla="*/ 622 w 3681"/>
                <a:gd name="T81" fmla="*/ 1027 h 2415"/>
                <a:gd name="T82" fmla="*/ 566 w 3681"/>
                <a:gd name="T83" fmla="*/ 1027 h 2415"/>
                <a:gd name="T84" fmla="*/ 315 w 3681"/>
                <a:gd name="T85" fmla="*/ 1006 h 2415"/>
                <a:gd name="T86" fmla="*/ 258 w 3681"/>
                <a:gd name="T87" fmla="*/ 952 h 2415"/>
                <a:gd name="T88" fmla="*/ 187 w 3681"/>
                <a:gd name="T89" fmla="*/ 710 h 2415"/>
                <a:gd name="T90" fmla="*/ 173 w 3681"/>
                <a:gd name="T91" fmla="*/ 641 h 2415"/>
                <a:gd name="T92" fmla="*/ 144 w 3681"/>
                <a:gd name="T93" fmla="*/ 648 h 2415"/>
                <a:gd name="T94" fmla="*/ 109 w 3681"/>
                <a:gd name="T95" fmla="*/ 607 h 2415"/>
                <a:gd name="T96" fmla="*/ 101 w 3681"/>
                <a:gd name="T97" fmla="*/ 573 h 2415"/>
                <a:gd name="T98" fmla="*/ 130 w 3681"/>
                <a:gd name="T99" fmla="*/ 497 h 2415"/>
                <a:gd name="T100" fmla="*/ 144 w 3681"/>
                <a:gd name="T101" fmla="*/ 414 h 2415"/>
                <a:gd name="T102" fmla="*/ 137 w 3681"/>
                <a:gd name="T103" fmla="*/ 359 h 2415"/>
                <a:gd name="T104" fmla="*/ 116 w 3681"/>
                <a:gd name="T105" fmla="*/ 331 h 2415"/>
                <a:gd name="T106" fmla="*/ 16 w 3681"/>
                <a:gd name="T107" fmla="*/ 255 h 2415"/>
                <a:gd name="T108" fmla="*/ 16 w 3681"/>
                <a:gd name="T109" fmla="*/ 158 h 2415"/>
                <a:gd name="T110" fmla="*/ 37 w 3681"/>
                <a:gd name="T111" fmla="*/ 152 h 2415"/>
                <a:gd name="T112" fmla="*/ 66 w 3681"/>
                <a:gd name="T113" fmla="*/ 145 h 2415"/>
                <a:gd name="T114" fmla="*/ 123 w 3681"/>
                <a:gd name="T115" fmla="*/ 110 h 2415"/>
                <a:gd name="T116" fmla="*/ 137 w 3681"/>
                <a:gd name="T117" fmla="*/ 90 h 2415"/>
                <a:gd name="T118" fmla="*/ 123 w 3681"/>
                <a:gd name="T119" fmla="*/ 56 h 241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681"/>
                <a:gd name="T181" fmla="*/ 0 h 2415"/>
                <a:gd name="T182" fmla="*/ 3681 w 3681"/>
                <a:gd name="T183" fmla="*/ 2415 h 2415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681" h="2415">
                  <a:moveTo>
                    <a:pt x="258" y="120"/>
                  </a:moveTo>
                  <a:cubicBezTo>
                    <a:pt x="338" y="88"/>
                    <a:pt x="414" y="62"/>
                    <a:pt x="498" y="45"/>
                  </a:cubicBezTo>
                  <a:cubicBezTo>
                    <a:pt x="553" y="55"/>
                    <a:pt x="610" y="56"/>
                    <a:pt x="663" y="75"/>
                  </a:cubicBezTo>
                  <a:cubicBezTo>
                    <a:pt x="683" y="82"/>
                    <a:pt x="690" y="109"/>
                    <a:pt x="708" y="120"/>
                  </a:cubicBezTo>
                  <a:cubicBezTo>
                    <a:pt x="766" y="156"/>
                    <a:pt x="822" y="156"/>
                    <a:pt x="888" y="165"/>
                  </a:cubicBezTo>
                  <a:cubicBezTo>
                    <a:pt x="1120" y="150"/>
                    <a:pt x="1060" y="203"/>
                    <a:pt x="1128" y="135"/>
                  </a:cubicBezTo>
                  <a:cubicBezTo>
                    <a:pt x="1252" y="112"/>
                    <a:pt x="1380" y="102"/>
                    <a:pt x="1503" y="75"/>
                  </a:cubicBezTo>
                  <a:cubicBezTo>
                    <a:pt x="1639" y="45"/>
                    <a:pt x="1754" y="0"/>
                    <a:pt x="1893" y="0"/>
                  </a:cubicBezTo>
                  <a:cubicBezTo>
                    <a:pt x="1972" y="73"/>
                    <a:pt x="2125" y="183"/>
                    <a:pt x="2193" y="285"/>
                  </a:cubicBezTo>
                  <a:cubicBezTo>
                    <a:pt x="2198" y="385"/>
                    <a:pt x="2191" y="486"/>
                    <a:pt x="2208" y="585"/>
                  </a:cubicBezTo>
                  <a:cubicBezTo>
                    <a:pt x="2212" y="606"/>
                    <a:pt x="2242" y="612"/>
                    <a:pt x="2253" y="630"/>
                  </a:cubicBezTo>
                  <a:cubicBezTo>
                    <a:pt x="2388" y="846"/>
                    <a:pt x="2173" y="580"/>
                    <a:pt x="2343" y="750"/>
                  </a:cubicBezTo>
                  <a:cubicBezTo>
                    <a:pt x="2356" y="763"/>
                    <a:pt x="2373" y="795"/>
                    <a:pt x="2373" y="795"/>
                  </a:cubicBezTo>
                  <a:cubicBezTo>
                    <a:pt x="2363" y="815"/>
                    <a:pt x="2324" y="844"/>
                    <a:pt x="2343" y="855"/>
                  </a:cubicBezTo>
                  <a:cubicBezTo>
                    <a:pt x="2383" y="878"/>
                    <a:pt x="2583" y="904"/>
                    <a:pt x="2658" y="915"/>
                  </a:cubicBezTo>
                  <a:cubicBezTo>
                    <a:pt x="2688" y="925"/>
                    <a:pt x="2718" y="935"/>
                    <a:pt x="2748" y="945"/>
                  </a:cubicBezTo>
                  <a:cubicBezTo>
                    <a:pt x="2763" y="950"/>
                    <a:pt x="2793" y="960"/>
                    <a:pt x="2793" y="960"/>
                  </a:cubicBezTo>
                  <a:cubicBezTo>
                    <a:pt x="2811" y="1070"/>
                    <a:pt x="2830" y="1135"/>
                    <a:pt x="2928" y="1200"/>
                  </a:cubicBezTo>
                  <a:cubicBezTo>
                    <a:pt x="2956" y="1284"/>
                    <a:pt x="3042" y="1434"/>
                    <a:pt x="3138" y="1455"/>
                  </a:cubicBezTo>
                  <a:cubicBezTo>
                    <a:pt x="3187" y="1466"/>
                    <a:pt x="3238" y="1465"/>
                    <a:pt x="3288" y="1470"/>
                  </a:cubicBezTo>
                  <a:cubicBezTo>
                    <a:pt x="3318" y="1500"/>
                    <a:pt x="3359" y="1537"/>
                    <a:pt x="3378" y="1575"/>
                  </a:cubicBezTo>
                  <a:cubicBezTo>
                    <a:pt x="3387" y="1593"/>
                    <a:pt x="3382" y="1618"/>
                    <a:pt x="3393" y="1635"/>
                  </a:cubicBezTo>
                  <a:cubicBezTo>
                    <a:pt x="3450" y="1721"/>
                    <a:pt x="3438" y="1607"/>
                    <a:pt x="3438" y="1710"/>
                  </a:cubicBezTo>
                  <a:cubicBezTo>
                    <a:pt x="3403" y="1816"/>
                    <a:pt x="3419" y="1721"/>
                    <a:pt x="3558" y="1860"/>
                  </a:cubicBezTo>
                  <a:cubicBezTo>
                    <a:pt x="3574" y="1876"/>
                    <a:pt x="3578" y="1900"/>
                    <a:pt x="3588" y="1920"/>
                  </a:cubicBezTo>
                  <a:cubicBezTo>
                    <a:pt x="3593" y="1945"/>
                    <a:pt x="3596" y="1970"/>
                    <a:pt x="3603" y="1995"/>
                  </a:cubicBezTo>
                  <a:cubicBezTo>
                    <a:pt x="3611" y="2026"/>
                    <a:pt x="3633" y="2085"/>
                    <a:pt x="3633" y="2085"/>
                  </a:cubicBezTo>
                  <a:cubicBezTo>
                    <a:pt x="3604" y="2365"/>
                    <a:pt x="3681" y="2405"/>
                    <a:pt x="3468" y="2370"/>
                  </a:cubicBezTo>
                  <a:cubicBezTo>
                    <a:pt x="3453" y="2335"/>
                    <a:pt x="3444" y="2297"/>
                    <a:pt x="3423" y="2265"/>
                  </a:cubicBezTo>
                  <a:cubicBezTo>
                    <a:pt x="3413" y="2250"/>
                    <a:pt x="3389" y="2249"/>
                    <a:pt x="3378" y="2235"/>
                  </a:cubicBezTo>
                  <a:cubicBezTo>
                    <a:pt x="3368" y="2223"/>
                    <a:pt x="3376" y="2199"/>
                    <a:pt x="3363" y="2190"/>
                  </a:cubicBezTo>
                  <a:cubicBezTo>
                    <a:pt x="3333" y="2167"/>
                    <a:pt x="3293" y="2161"/>
                    <a:pt x="3258" y="2145"/>
                  </a:cubicBezTo>
                  <a:cubicBezTo>
                    <a:pt x="3238" y="2136"/>
                    <a:pt x="3220" y="2118"/>
                    <a:pt x="3198" y="2115"/>
                  </a:cubicBezTo>
                  <a:cubicBezTo>
                    <a:pt x="3138" y="2108"/>
                    <a:pt x="3078" y="2115"/>
                    <a:pt x="3018" y="2115"/>
                  </a:cubicBezTo>
                  <a:cubicBezTo>
                    <a:pt x="2943" y="2140"/>
                    <a:pt x="2855" y="2168"/>
                    <a:pt x="2778" y="2175"/>
                  </a:cubicBezTo>
                  <a:cubicBezTo>
                    <a:pt x="2573" y="2194"/>
                    <a:pt x="2163" y="2220"/>
                    <a:pt x="2163" y="2220"/>
                  </a:cubicBezTo>
                  <a:cubicBezTo>
                    <a:pt x="2009" y="2343"/>
                    <a:pt x="2172" y="2233"/>
                    <a:pt x="1998" y="2295"/>
                  </a:cubicBezTo>
                  <a:cubicBezTo>
                    <a:pt x="1924" y="2322"/>
                    <a:pt x="1826" y="2370"/>
                    <a:pt x="1758" y="2415"/>
                  </a:cubicBezTo>
                  <a:cubicBezTo>
                    <a:pt x="1701" y="2393"/>
                    <a:pt x="1613" y="2369"/>
                    <a:pt x="1563" y="2325"/>
                  </a:cubicBezTo>
                  <a:cubicBezTo>
                    <a:pt x="1544" y="2309"/>
                    <a:pt x="1537" y="2281"/>
                    <a:pt x="1518" y="2265"/>
                  </a:cubicBezTo>
                  <a:cubicBezTo>
                    <a:pt x="1470" y="2225"/>
                    <a:pt x="1362" y="2235"/>
                    <a:pt x="1308" y="2235"/>
                  </a:cubicBezTo>
                  <a:cubicBezTo>
                    <a:pt x="1213" y="2361"/>
                    <a:pt x="1322" y="2258"/>
                    <a:pt x="1188" y="2235"/>
                  </a:cubicBezTo>
                  <a:cubicBezTo>
                    <a:pt x="1015" y="2205"/>
                    <a:pt x="838" y="2205"/>
                    <a:pt x="663" y="2190"/>
                  </a:cubicBezTo>
                  <a:cubicBezTo>
                    <a:pt x="623" y="2150"/>
                    <a:pt x="589" y="2103"/>
                    <a:pt x="543" y="2070"/>
                  </a:cubicBezTo>
                  <a:cubicBezTo>
                    <a:pt x="270" y="1870"/>
                    <a:pt x="393" y="2337"/>
                    <a:pt x="393" y="1545"/>
                  </a:cubicBezTo>
                  <a:cubicBezTo>
                    <a:pt x="383" y="1495"/>
                    <a:pt x="391" y="1437"/>
                    <a:pt x="363" y="1395"/>
                  </a:cubicBezTo>
                  <a:cubicBezTo>
                    <a:pt x="352" y="1378"/>
                    <a:pt x="323" y="1416"/>
                    <a:pt x="303" y="1410"/>
                  </a:cubicBezTo>
                  <a:cubicBezTo>
                    <a:pt x="279" y="1403"/>
                    <a:pt x="241" y="1339"/>
                    <a:pt x="228" y="1320"/>
                  </a:cubicBezTo>
                  <a:cubicBezTo>
                    <a:pt x="223" y="1295"/>
                    <a:pt x="213" y="1270"/>
                    <a:pt x="213" y="1245"/>
                  </a:cubicBezTo>
                  <a:cubicBezTo>
                    <a:pt x="213" y="1184"/>
                    <a:pt x="261" y="1138"/>
                    <a:pt x="273" y="1080"/>
                  </a:cubicBezTo>
                  <a:cubicBezTo>
                    <a:pt x="285" y="1020"/>
                    <a:pt x="293" y="960"/>
                    <a:pt x="303" y="900"/>
                  </a:cubicBezTo>
                  <a:cubicBezTo>
                    <a:pt x="298" y="860"/>
                    <a:pt x="301" y="818"/>
                    <a:pt x="288" y="780"/>
                  </a:cubicBezTo>
                  <a:cubicBezTo>
                    <a:pt x="280" y="756"/>
                    <a:pt x="258" y="740"/>
                    <a:pt x="243" y="720"/>
                  </a:cubicBezTo>
                  <a:cubicBezTo>
                    <a:pt x="184" y="638"/>
                    <a:pt x="128" y="593"/>
                    <a:pt x="33" y="555"/>
                  </a:cubicBezTo>
                  <a:cubicBezTo>
                    <a:pt x="18" y="479"/>
                    <a:pt x="0" y="428"/>
                    <a:pt x="33" y="345"/>
                  </a:cubicBezTo>
                  <a:cubicBezTo>
                    <a:pt x="39" y="330"/>
                    <a:pt x="63" y="334"/>
                    <a:pt x="78" y="330"/>
                  </a:cubicBezTo>
                  <a:cubicBezTo>
                    <a:pt x="98" y="324"/>
                    <a:pt x="118" y="320"/>
                    <a:pt x="138" y="315"/>
                  </a:cubicBezTo>
                  <a:cubicBezTo>
                    <a:pt x="178" y="290"/>
                    <a:pt x="218" y="265"/>
                    <a:pt x="258" y="240"/>
                  </a:cubicBezTo>
                  <a:cubicBezTo>
                    <a:pt x="273" y="230"/>
                    <a:pt x="288" y="213"/>
                    <a:pt x="288" y="195"/>
                  </a:cubicBezTo>
                  <a:cubicBezTo>
                    <a:pt x="288" y="168"/>
                    <a:pt x="268" y="145"/>
                    <a:pt x="258" y="120"/>
                  </a:cubicBez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2544" name="Rectangle 14"/>
            <p:cNvSpPr>
              <a:spLocks noChangeArrowheads="1"/>
            </p:cNvSpPr>
            <p:nvPr/>
          </p:nvSpPr>
          <p:spPr bwMode="auto">
            <a:xfrm>
              <a:off x="1558" y="3695"/>
              <a:ext cx="1081" cy="799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/>
                <a:t>Customer Care  System</a:t>
              </a:r>
              <a:endParaRPr lang="en-US" sz="1575"/>
            </a:p>
          </p:txBody>
        </p:sp>
        <p:sp>
          <p:nvSpPr>
            <p:cNvPr id="22545" name="Rectangle 15"/>
            <p:cNvSpPr>
              <a:spLocks noChangeArrowheads="1"/>
            </p:cNvSpPr>
            <p:nvPr/>
          </p:nvSpPr>
          <p:spPr bwMode="auto">
            <a:xfrm>
              <a:off x="1556" y="4782"/>
              <a:ext cx="999" cy="556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dirty="0"/>
                <a:t>Billing System</a:t>
              </a:r>
            </a:p>
          </p:txBody>
        </p:sp>
        <p:sp>
          <p:nvSpPr>
            <p:cNvPr id="22546" name="Line 16"/>
            <p:cNvSpPr>
              <a:spLocks noChangeShapeType="1"/>
            </p:cNvSpPr>
            <p:nvPr/>
          </p:nvSpPr>
          <p:spPr bwMode="auto">
            <a:xfrm>
              <a:off x="2055" y="4490"/>
              <a:ext cx="0" cy="27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47" name="Rectangle 17"/>
            <p:cNvSpPr>
              <a:spLocks noChangeArrowheads="1"/>
            </p:cNvSpPr>
            <p:nvPr/>
          </p:nvSpPr>
          <p:spPr bwMode="auto">
            <a:xfrm>
              <a:off x="3696" y="3394"/>
              <a:ext cx="999" cy="556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/>
                <a:t>Sales Analysis</a:t>
              </a:r>
              <a:endParaRPr lang="en-US" sz="1575"/>
            </a:p>
          </p:txBody>
        </p:sp>
        <p:sp>
          <p:nvSpPr>
            <p:cNvPr id="22548" name="Rectangle 18"/>
            <p:cNvSpPr>
              <a:spLocks noChangeArrowheads="1"/>
            </p:cNvSpPr>
            <p:nvPr/>
          </p:nvSpPr>
          <p:spPr bwMode="auto">
            <a:xfrm>
              <a:off x="3698" y="4658"/>
              <a:ext cx="999" cy="694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/>
                <a:t>Market &amp; Customer Analysis</a:t>
              </a:r>
              <a:endParaRPr lang="en-US" sz="1575"/>
            </a:p>
          </p:txBody>
        </p:sp>
        <p:sp>
          <p:nvSpPr>
            <p:cNvPr id="22549" name="Rectangle 19"/>
            <p:cNvSpPr>
              <a:spLocks noChangeArrowheads="1"/>
            </p:cNvSpPr>
            <p:nvPr/>
          </p:nvSpPr>
          <p:spPr bwMode="auto">
            <a:xfrm>
              <a:off x="4779" y="3394"/>
              <a:ext cx="1142" cy="556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/>
                <a:t>Campaign Analysis</a:t>
              </a:r>
            </a:p>
          </p:txBody>
        </p:sp>
        <p:sp>
          <p:nvSpPr>
            <p:cNvPr id="22550" name="Rectangle 20"/>
            <p:cNvSpPr>
              <a:spLocks noChangeArrowheads="1"/>
            </p:cNvSpPr>
            <p:nvPr/>
          </p:nvSpPr>
          <p:spPr bwMode="auto">
            <a:xfrm>
              <a:off x="4891" y="4650"/>
              <a:ext cx="1028" cy="54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/>
                <a:t>Churn Analysis</a:t>
              </a:r>
              <a:endParaRPr lang="en-US" sz="1575"/>
            </a:p>
          </p:txBody>
        </p:sp>
        <p:sp>
          <p:nvSpPr>
            <p:cNvPr id="22551" name="Rectangle 21"/>
            <p:cNvSpPr>
              <a:spLocks noChangeArrowheads="1"/>
            </p:cNvSpPr>
            <p:nvPr/>
          </p:nvSpPr>
          <p:spPr bwMode="auto">
            <a:xfrm>
              <a:off x="6328" y="3230"/>
              <a:ext cx="1073" cy="5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/>
                <a:t>Walk in Center</a:t>
              </a:r>
              <a:endParaRPr lang="en-US" sz="1575"/>
            </a:p>
          </p:txBody>
        </p:sp>
        <p:sp>
          <p:nvSpPr>
            <p:cNvPr id="22552" name="Rectangle 22"/>
            <p:cNvSpPr>
              <a:spLocks noChangeArrowheads="1"/>
            </p:cNvSpPr>
            <p:nvPr/>
          </p:nvSpPr>
          <p:spPr bwMode="auto">
            <a:xfrm>
              <a:off x="6303" y="4374"/>
              <a:ext cx="1083" cy="48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/>
                <a:t>Payment Management</a:t>
              </a:r>
            </a:p>
          </p:txBody>
        </p:sp>
        <p:sp>
          <p:nvSpPr>
            <p:cNvPr id="22553" name="Rectangle 23"/>
            <p:cNvSpPr>
              <a:spLocks noChangeArrowheads="1"/>
            </p:cNvSpPr>
            <p:nvPr/>
          </p:nvSpPr>
          <p:spPr bwMode="auto">
            <a:xfrm>
              <a:off x="6300" y="4929"/>
              <a:ext cx="1071" cy="465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/>
                <a:t>Account Management</a:t>
              </a:r>
            </a:p>
          </p:txBody>
        </p:sp>
        <p:sp>
          <p:nvSpPr>
            <p:cNvPr id="22554" name="AutoShape 24"/>
            <p:cNvSpPr>
              <a:spLocks noChangeArrowheads="1"/>
            </p:cNvSpPr>
            <p:nvPr/>
          </p:nvSpPr>
          <p:spPr bwMode="auto">
            <a:xfrm>
              <a:off x="2867" y="3834"/>
              <a:ext cx="730" cy="1200"/>
            </a:xfrm>
            <a:prstGeom prst="flowChartMagneticDisk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pPr algn="just"/>
              <a:r>
                <a:rPr lang="en-US" sz="1575"/>
                <a:t>Data Ware</a:t>
              </a:r>
            </a:p>
            <a:p>
              <a:pPr algn="just"/>
              <a:r>
                <a:rPr lang="en-US" sz="1575"/>
                <a:t>House</a:t>
              </a:r>
            </a:p>
          </p:txBody>
        </p:sp>
        <p:sp>
          <p:nvSpPr>
            <p:cNvPr id="22555" name="Line 25"/>
            <p:cNvSpPr>
              <a:spLocks noChangeShapeType="1"/>
            </p:cNvSpPr>
            <p:nvPr/>
          </p:nvSpPr>
          <p:spPr bwMode="auto">
            <a:xfrm flipV="1">
              <a:off x="3570" y="3512"/>
              <a:ext cx="128" cy="426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56" name="Line 26"/>
            <p:cNvSpPr>
              <a:spLocks noChangeShapeType="1"/>
            </p:cNvSpPr>
            <p:nvPr/>
          </p:nvSpPr>
          <p:spPr bwMode="auto">
            <a:xfrm>
              <a:off x="3569" y="4888"/>
              <a:ext cx="129" cy="13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57" name="Line 27"/>
            <p:cNvSpPr>
              <a:spLocks noChangeShapeType="1"/>
            </p:cNvSpPr>
            <p:nvPr/>
          </p:nvSpPr>
          <p:spPr bwMode="auto">
            <a:xfrm flipH="1">
              <a:off x="6110" y="3556"/>
              <a:ext cx="25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58" name="Line 28"/>
            <p:cNvSpPr>
              <a:spLocks noChangeShapeType="1"/>
            </p:cNvSpPr>
            <p:nvPr/>
          </p:nvSpPr>
          <p:spPr bwMode="auto">
            <a:xfrm>
              <a:off x="6110" y="3544"/>
              <a:ext cx="0" cy="154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59" name="Line 29"/>
            <p:cNvSpPr>
              <a:spLocks noChangeShapeType="1"/>
            </p:cNvSpPr>
            <p:nvPr/>
          </p:nvSpPr>
          <p:spPr bwMode="auto">
            <a:xfrm>
              <a:off x="5820" y="3774"/>
              <a:ext cx="301" cy="21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61" name="Rectangle 31"/>
            <p:cNvSpPr>
              <a:spLocks noChangeArrowheads="1"/>
            </p:cNvSpPr>
            <p:nvPr/>
          </p:nvSpPr>
          <p:spPr bwMode="auto">
            <a:xfrm>
              <a:off x="4620" y="6991"/>
              <a:ext cx="763" cy="417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/>
                <a:t>Market</a:t>
              </a:r>
            </a:p>
          </p:txBody>
        </p:sp>
        <p:sp>
          <p:nvSpPr>
            <p:cNvPr id="22562" name="Rectangle 32"/>
            <p:cNvSpPr>
              <a:spLocks noChangeArrowheads="1"/>
            </p:cNvSpPr>
            <p:nvPr/>
          </p:nvSpPr>
          <p:spPr bwMode="auto">
            <a:xfrm>
              <a:off x="3260" y="5793"/>
              <a:ext cx="1624" cy="695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/>
                <a:t>Eksternal Data</a:t>
              </a:r>
            </a:p>
            <a:p>
              <a:r>
                <a:rPr lang="en-US" sz="1575"/>
                <a:t>Market Research</a:t>
              </a:r>
            </a:p>
          </p:txBody>
        </p:sp>
        <p:sp>
          <p:nvSpPr>
            <p:cNvPr id="22563" name="Line 33"/>
            <p:cNvSpPr>
              <a:spLocks noChangeShapeType="1"/>
            </p:cNvSpPr>
            <p:nvPr/>
          </p:nvSpPr>
          <p:spPr bwMode="auto">
            <a:xfrm>
              <a:off x="4006" y="5324"/>
              <a:ext cx="0" cy="416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22560" name="AutoShape 30"/>
            <p:cNvSpPr>
              <a:spLocks noChangeArrowheads="1"/>
            </p:cNvSpPr>
            <p:nvPr/>
          </p:nvSpPr>
          <p:spPr bwMode="auto">
            <a:xfrm>
              <a:off x="3329" y="6287"/>
              <a:ext cx="1308" cy="1140"/>
            </a:xfrm>
            <a:prstGeom prst="flowChartExtract">
              <a:avLst/>
            </a:prstGeom>
            <a:solidFill>
              <a:srgbClr val="FFFF00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75" b="1" dirty="0"/>
                <a:t>Customer</a:t>
              </a:r>
              <a:endParaRPr lang="en-US" sz="1575" dirty="0"/>
            </a:p>
          </p:txBody>
        </p:sp>
      </p:grpSp>
      <p:sp>
        <p:nvSpPr>
          <p:cNvPr id="22532" name="Rectangle 34"/>
          <p:cNvSpPr>
            <a:spLocks noChangeArrowheads="1"/>
          </p:cNvSpPr>
          <p:nvPr/>
        </p:nvSpPr>
        <p:spPr bwMode="auto">
          <a:xfrm>
            <a:off x="1200256" y="2199887"/>
            <a:ext cx="1899902" cy="69996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37" b="1" dirty="0">
                <a:solidFill>
                  <a:schemeClr val="bg1"/>
                </a:solidFill>
              </a:rPr>
              <a:t>Operational </a:t>
            </a:r>
          </a:p>
          <a:p>
            <a:pPr algn="ctr"/>
            <a:r>
              <a:rPr lang="en-US" sz="1837" b="1" dirty="0">
                <a:solidFill>
                  <a:schemeClr val="bg1"/>
                </a:solidFill>
              </a:rPr>
              <a:t>CRM</a:t>
            </a:r>
          </a:p>
        </p:txBody>
      </p:sp>
      <p:sp>
        <p:nvSpPr>
          <p:cNvPr id="22533" name="Rectangle 35"/>
          <p:cNvSpPr>
            <a:spLocks noChangeArrowheads="1"/>
          </p:cNvSpPr>
          <p:nvPr/>
        </p:nvSpPr>
        <p:spPr bwMode="auto">
          <a:xfrm>
            <a:off x="5000061" y="2099892"/>
            <a:ext cx="3999794" cy="69996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37" b="1">
                <a:solidFill>
                  <a:schemeClr val="bg1"/>
                </a:solidFill>
              </a:rPr>
              <a:t>Analitical</a:t>
            </a:r>
          </a:p>
          <a:p>
            <a:pPr algn="ctr"/>
            <a:r>
              <a:rPr lang="en-US" sz="1837" b="1">
                <a:solidFill>
                  <a:schemeClr val="bg1"/>
                </a:solidFill>
              </a:rPr>
              <a:t>CRM</a:t>
            </a:r>
          </a:p>
        </p:txBody>
      </p:sp>
      <p:sp>
        <p:nvSpPr>
          <p:cNvPr id="22534" name="Rectangle 36"/>
          <p:cNvSpPr>
            <a:spLocks noChangeArrowheads="1"/>
          </p:cNvSpPr>
          <p:nvPr/>
        </p:nvSpPr>
        <p:spPr bwMode="auto">
          <a:xfrm>
            <a:off x="9699819" y="2099892"/>
            <a:ext cx="1899902" cy="69996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37" b="1">
                <a:solidFill>
                  <a:schemeClr val="bg1"/>
                </a:solidFill>
              </a:rPr>
              <a:t>Collaborative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276191" y="1192485"/>
            <a:ext cx="0" cy="7107089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3641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272" y="153053"/>
            <a:ext cx="10799445" cy="739546"/>
          </a:xfrm>
        </p:spPr>
        <p:txBody>
          <a:bodyPr/>
          <a:lstStyle/>
          <a:p>
            <a:r>
              <a:rPr lang="en-US" sz="4000" dirty="0" err="1"/>
              <a:t>Batasan</a:t>
            </a:r>
            <a:r>
              <a:rPr lang="en-US" sz="4000" dirty="0"/>
              <a:t> </a:t>
            </a:r>
            <a:r>
              <a:rPr lang="en-US" sz="4000" dirty="0" err="1"/>
              <a:t>Penelitian</a:t>
            </a:r>
            <a:r>
              <a:rPr lang="en-US" sz="4000" dirty="0"/>
              <a:t> 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Boleh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hanya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satu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sub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bagian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dari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organisasi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atau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tergantung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dari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permasalahan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yg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muncul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di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satu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sub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bagian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organisasi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tersebut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SIM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Kepegawaian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boleh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tidak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keseluruhan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tapi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dengan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syarat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jumlah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pegawai</a:t>
            </a:r>
            <a:r>
              <a:rPr lang="en-US" sz="3200" dirty="0">
                <a:solidFill>
                  <a:srgbClr val="FF0000"/>
                </a:solidFill>
              </a:rPr>
              <a:t> yang </a:t>
            </a:r>
            <a:r>
              <a:rPr lang="en-US" sz="3200" dirty="0" err="1">
                <a:solidFill>
                  <a:srgbClr val="FF0000"/>
                </a:solidFill>
              </a:rPr>
              <a:t>sangat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banyak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atau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perusahaan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memiliki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beberapa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cabang</a:t>
            </a:r>
            <a:r>
              <a:rPr lang="en-US" sz="3200" dirty="0">
                <a:solidFill>
                  <a:srgbClr val="FF0000"/>
                </a:solidFill>
              </a:rPr>
              <a:t> yang </a:t>
            </a:r>
            <a:r>
              <a:rPr lang="en-US" sz="3200" dirty="0" err="1">
                <a:solidFill>
                  <a:srgbClr val="FF0000"/>
                </a:solidFill>
              </a:rPr>
              <a:t>tersebar</a:t>
            </a:r>
            <a:r>
              <a:rPr lang="en-US" sz="3200" dirty="0">
                <a:solidFill>
                  <a:srgbClr val="FF0000"/>
                </a:solidFill>
              </a:rPr>
              <a:t> di </a:t>
            </a:r>
            <a:r>
              <a:rPr lang="en-US" sz="3200" dirty="0" err="1">
                <a:solidFill>
                  <a:srgbClr val="FF0000"/>
                </a:solidFill>
              </a:rPr>
              <a:t>beberapa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lokasi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atau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daerah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berbeda</a:t>
            </a:r>
            <a:endParaRPr lang="en-US" sz="3200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</a:pPr>
            <a:endParaRPr lang="en-US" sz="3200" dirty="0"/>
          </a:p>
          <a:p>
            <a:pPr algn="just">
              <a:spcBef>
                <a:spcPts val="0"/>
              </a:spcBef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Proses </a:t>
            </a:r>
            <a:r>
              <a:rPr lang="en-US" sz="3200" dirty="0" err="1">
                <a:solidFill>
                  <a:schemeClr val="tx2">
                    <a:lumMod val="75000"/>
                  </a:schemeClr>
                </a:solidFill>
              </a:rPr>
              <a:t>meliputi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perencanaan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sampai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pengendalian</a:t>
            </a:r>
            <a:r>
              <a:rPr lang="en-US" sz="3200" u="sng" dirty="0">
                <a:solidFill>
                  <a:srgbClr val="FF0000"/>
                </a:solidFill>
              </a:rPr>
              <a:t> (</a:t>
            </a:r>
            <a:r>
              <a:rPr lang="en-US" sz="3200" u="sng" dirty="0" err="1">
                <a:solidFill>
                  <a:srgbClr val="FF0000"/>
                </a:solidFill>
              </a:rPr>
              <a:t>pengawasan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dan</a:t>
            </a:r>
            <a:r>
              <a:rPr lang="en-US" sz="3200" u="sng" dirty="0">
                <a:solidFill>
                  <a:srgbClr val="FF0000"/>
                </a:solidFill>
              </a:rPr>
              <a:t> </a:t>
            </a:r>
            <a:r>
              <a:rPr lang="en-US" sz="3200" u="sng" dirty="0" err="1">
                <a:solidFill>
                  <a:srgbClr val="FF0000"/>
                </a:solidFill>
              </a:rPr>
              <a:t>evaluasi</a:t>
            </a:r>
            <a:r>
              <a:rPr lang="en-US" sz="3200" u="sng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339885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14" y="199992"/>
            <a:ext cx="11339989" cy="739546"/>
          </a:xfrm>
        </p:spPr>
        <p:txBody>
          <a:bodyPr/>
          <a:lstStyle/>
          <a:p>
            <a:r>
              <a:rPr lang="en-US" sz="4000" dirty="0" err="1"/>
              <a:t>Keluaran</a:t>
            </a:r>
            <a:r>
              <a:rPr lang="en-US" sz="4000" dirty="0"/>
              <a:t> </a:t>
            </a:r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Manajemen</a:t>
            </a:r>
            <a:r>
              <a:rPr lang="en-US" sz="4000" dirty="0"/>
              <a:t> </a:t>
            </a:r>
            <a:r>
              <a:rPr lang="en-US" sz="4000" dirty="0" err="1"/>
              <a:t>Proyek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272" y="1286979"/>
            <a:ext cx="10799445" cy="6887146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sz="3281" u="sng" dirty="0" err="1">
                <a:solidFill>
                  <a:srgbClr val="FF0000"/>
                </a:solidFill>
              </a:rPr>
              <a:t>Tahap</a:t>
            </a:r>
            <a:r>
              <a:rPr lang="en-US" sz="3281" u="sng" dirty="0">
                <a:solidFill>
                  <a:srgbClr val="FF0000"/>
                </a:solidFill>
              </a:rPr>
              <a:t> </a:t>
            </a:r>
            <a:r>
              <a:rPr lang="en-US" sz="3281" u="sng" dirty="0" err="1">
                <a:solidFill>
                  <a:srgbClr val="FF0000"/>
                </a:solidFill>
              </a:rPr>
              <a:t>Inisialisasi</a:t>
            </a:r>
            <a:r>
              <a:rPr lang="en-US" sz="3281" dirty="0">
                <a:solidFill>
                  <a:srgbClr val="FF0000"/>
                </a:solidFill>
              </a:rPr>
              <a:t> 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informasi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tujuan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+ target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waktu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+ target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biaya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+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struktur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organisasi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/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pelaksana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algn="just">
              <a:spcBef>
                <a:spcPts val="0"/>
              </a:spcBef>
            </a:pPr>
            <a:endParaRPr lang="en-US" sz="3281" dirty="0"/>
          </a:p>
          <a:p>
            <a:pPr algn="just">
              <a:spcBef>
                <a:spcPts val="0"/>
              </a:spcBef>
            </a:pPr>
            <a:r>
              <a:rPr lang="en-US" sz="3281" u="sng" dirty="0" err="1">
                <a:solidFill>
                  <a:srgbClr val="FF0000"/>
                </a:solidFill>
              </a:rPr>
              <a:t>Tahap</a:t>
            </a:r>
            <a:r>
              <a:rPr lang="en-US" sz="3281" u="sng" dirty="0">
                <a:solidFill>
                  <a:srgbClr val="FF0000"/>
                </a:solidFill>
              </a:rPr>
              <a:t> </a:t>
            </a:r>
            <a:r>
              <a:rPr lang="en-US" sz="3281" u="sng" dirty="0" err="1">
                <a:solidFill>
                  <a:srgbClr val="FF0000"/>
                </a:solidFill>
              </a:rPr>
              <a:t>Perencanaan</a:t>
            </a:r>
            <a:r>
              <a:rPr lang="en-US" sz="3281" dirty="0">
                <a:solidFill>
                  <a:srgbClr val="FF0000"/>
                </a:solidFill>
              </a:rPr>
              <a:t> 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Jadwal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, RAB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sumber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daya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manajemen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resiko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accent6">
                    <a:lumMod val="50000"/>
                  </a:schemeClr>
                </a:solidFill>
              </a:rPr>
              <a:t>proyek</a:t>
            </a:r>
            <a:r>
              <a:rPr lang="en-US" sz="3281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algn="just">
              <a:spcBef>
                <a:spcPts val="0"/>
              </a:spcBef>
            </a:pPr>
            <a:endParaRPr lang="en-US" sz="3281" dirty="0"/>
          </a:p>
          <a:p>
            <a:pPr algn="just">
              <a:spcBef>
                <a:spcPts val="0"/>
              </a:spcBef>
            </a:pPr>
            <a:r>
              <a:rPr lang="en-US" sz="3281" u="sng" dirty="0" err="1">
                <a:solidFill>
                  <a:srgbClr val="FF0000"/>
                </a:solidFill>
              </a:rPr>
              <a:t>Tahap</a:t>
            </a:r>
            <a:r>
              <a:rPr lang="en-US" sz="3281" u="sng" dirty="0">
                <a:solidFill>
                  <a:srgbClr val="FF0000"/>
                </a:solidFill>
              </a:rPr>
              <a:t> Controlling</a:t>
            </a:r>
            <a:r>
              <a:rPr lang="en-US" sz="3281" dirty="0">
                <a:solidFill>
                  <a:srgbClr val="FF0000"/>
                </a:solidFill>
              </a:rPr>
              <a:t> 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: Controlling time/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jadwal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berupa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gantt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chart, diagram network/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jalur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kritis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, controlling cost, controlling risk (</a:t>
            </a:r>
            <a:r>
              <a:rPr lang="en-US" sz="3281" dirty="0" err="1">
                <a:solidFill>
                  <a:schemeClr val="tx2">
                    <a:lumMod val="75000"/>
                  </a:schemeClr>
                </a:solidFill>
              </a:rPr>
              <a:t>resiko</a:t>
            </a:r>
            <a:r>
              <a:rPr lang="en-US" sz="328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421299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Syarat</a:t>
            </a:r>
            <a:r>
              <a:rPr lang="en-US" sz="4000" dirty="0"/>
              <a:t> SIG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322" y="1412430"/>
            <a:ext cx="12025336" cy="6887146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</a:rPr>
              <a:t>objek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</a:rPr>
              <a:t>penelitian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TA/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</a:rPr>
              <a:t>Skripsi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</a:rPr>
              <a:t>memiliki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dirty="0">
                <a:solidFill>
                  <a:srgbClr val="FF0000"/>
                </a:solidFill>
              </a:rPr>
              <a:t>data </a:t>
            </a:r>
            <a:r>
              <a:rPr lang="en-US" sz="3400" dirty="0" err="1">
                <a:solidFill>
                  <a:srgbClr val="FF0000"/>
                </a:solidFill>
              </a:rPr>
              <a:t>spasial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dan</a:t>
            </a:r>
            <a:r>
              <a:rPr lang="en-US" sz="3400" dirty="0">
                <a:solidFill>
                  <a:srgbClr val="FF0000"/>
                </a:solidFill>
              </a:rPr>
              <a:t> data non </a:t>
            </a:r>
            <a:r>
              <a:rPr lang="en-US" sz="3400" dirty="0" err="1">
                <a:solidFill>
                  <a:srgbClr val="FF0000"/>
                </a:solidFill>
              </a:rPr>
              <a:t>spasial</a:t>
            </a:r>
            <a:endParaRPr lang="en-US" sz="3400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</a:pPr>
            <a:endParaRPr lang="en-US" sz="3400" dirty="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SIG yang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dibangun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harus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>
                <a:solidFill>
                  <a:srgbClr val="FF0000"/>
                </a:solidFill>
              </a:rPr>
              <a:t>analytical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menggabungkan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dengan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SPK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atau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monitoring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dan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evaluasi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algn="just">
              <a:spcBef>
                <a:spcPts val="0"/>
              </a:spcBef>
            </a:pPr>
            <a:endParaRPr lang="en-US" sz="34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3400" dirty="0" err="1">
                <a:solidFill>
                  <a:schemeClr val="tx2">
                    <a:lumMod val="75000"/>
                  </a:schemeClr>
                </a:solidFill>
              </a:rPr>
              <a:t>memiliki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kriteria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dan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subkriteria</a:t>
            </a:r>
            <a:r>
              <a:rPr lang="en-US" sz="3400" dirty="0">
                <a:solidFill>
                  <a:srgbClr val="FF0000"/>
                </a:solidFill>
              </a:rPr>
              <a:t> yang </a:t>
            </a:r>
            <a:r>
              <a:rPr lang="en-US" sz="3400" dirty="0" err="1">
                <a:solidFill>
                  <a:srgbClr val="FF0000"/>
                </a:solidFill>
              </a:rPr>
              <a:t>kompleks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</a:rPr>
              <a:t>untuk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SPK</a:t>
            </a:r>
          </a:p>
          <a:p>
            <a:pPr algn="just">
              <a:spcBef>
                <a:spcPts val="0"/>
              </a:spcBef>
            </a:pPr>
            <a:endParaRPr lang="en-US" sz="3400" dirty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tampilan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kalau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bisa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dalam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bentuk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tiga</a:t>
            </a:r>
            <a:r>
              <a:rPr lang="en-US" sz="3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400" dirty="0" err="1">
                <a:solidFill>
                  <a:schemeClr val="accent6">
                    <a:lumMod val="50000"/>
                  </a:schemeClr>
                </a:solidFill>
              </a:rPr>
              <a:t>dimensi</a:t>
            </a:r>
            <a:endParaRPr lang="en-US" sz="3400" b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75732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Komponen</a:t>
            </a:r>
            <a:r>
              <a:rPr lang="en-US" sz="4000" dirty="0"/>
              <a:t> SIG</a:t>
            </a:r>
          </a:p>
        </p:txBody>
      </p:sp>
      <p:pic>
        <p:nvPicPr>
          <p:cNvPr id="5122" name="Picture 2" descr="HISTORY&#10;â¢ The first known use of the term &quot;geographic information system&quot;&#10;was by Roger Tomlinson in the year 1968 in his p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22" y="1003498"/>
            <a:ext cx="11718302" cy="699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197327" y="7807053"/>
            <a:ext cx="10772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 : https://www.slideshare.net/DrrahulShrivastava/gis-dr-rahul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1097721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Contoh</a:t>
            </a:r>
            <a:r>
              <a:rPr lang="en-US" sz="4000" dirty="0"/>
              <a:t> SIG (1)</a:t>
            </a:r>
          </a:p>
        </p:txBody>
      </p:sp>
      <p:pic>
        <p:nvPicPr>
          <p:cNvPr id="6148" name="Picture 4" descr="Gambar terka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30" y="1097992"/>
            <a:ext cx="12276658" cy="739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820274" y="8105178"/>
            <a:ext cx="3600400" cy="384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 : dpupr.bantenprov.go.id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4193985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Contoh</a:t>
            </a:r>
            <a:r>
              <a:rPr lang="en-US" sz="4000" dirty="0"/>
              <a:t> SIG (2)</a:t>
            </a:r>
          </a:p>
        </p:txBody>
      </p:sp>
      <p:pic>
        <p:nvPicPr>
          <p:cNvPr id="8194" name="Picture 2" descr="manfaat SIG dalam bidang kesehatan lingkung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7992"/>
            <a:ext cx="12599987" cy="67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275658" y="7817842"/>
            <a:ext cx="9108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i="1" dirty="0">
                <a:solidFill>
                  <a:srgbClr val="000000"/>
                </a:solidFill>
                <a:latin typeface="Source Sans Pro"/>
              </a:rPr>
              <a:t>Peta </a:t>
            </a:r>
            <a:r>
              <a:rPr lang="en-US" b="1" i="1" dirty="0" err="1">
                <a:solidFill>
                  <a:srgbClr val="000000"/>
                </a:solidFill>
                <a:latin typeface="Source Sans Pro"/>
              </a:rPr>
              <a:t>Penyebaran</a:t>
            </a:r>
            <a:r>
              <a:rPr lang="en-US" b="1" i="1" dirty="0">
                <a:solidFill>
                  <a:srgbClr val="000000"/>
                </a:solidFill>
                <a:latin typeface="Source Sans Pro"/>
              </a:rPr>
              <a:t> </a:t>
            </a:r>
            <a:r>
              <a:rPr lang="en-US" b="1" i="1" dirty="0" err="1">
                <a:solidFill>
                  <a:srgbClr val="000000"/>
                </a:solidFill>
                <a:latin typeface="Source Sans Pro"/>
              </a:rPr>
              <a:t>Penyakit</a:t>
            </a:r>
            <a:r>
              <a:rPr lang="en-US" b="1" i="1" dirty="0">
                <a:solidFill>
                  <a:srgbClr val="000000"/>
                </a:solidFill>
                <a:latin typeface="Source Sans Pro"/>
              </a:rPr>
              <a:t> Ebola di </a:t>
            </a:r>
            <a:r>
              <a:rPr lang="en-US" b="1" i="1" dirty="0" err="1">
                <a:solidFill>
                  <a:srgbClr val="000000"/>
                </a:solidFill>
                <a:latin typeface="Source Sans Pro"/>
              </a:rPr>
              <a:t>Afrika</a:t>
            </a:r>
            <a:r>
              <a:rPr lang="en-US" b="1" i="1" dirty="0">
                <a:solidFill>
                  <a:srgbClr val="000000"/>
                </a:solidFill>
                <a:latin typeface="Source Sans Pro"/>
              </a:rPr>
              <a:t> Barat – 29 </a:t>
            </a:r>
            <a:r>
              <a:rPr lang="en-US" b="1" i="1" dirty="0" err="1">
                <a:solidFill>
                  <a:srgbClr val="000000"/>
                </a:solidFill>
                <a:latin typeface="Source Sans Pro"/>
              </a:rPr>
              <a:t>Oktober</a:t>
            </a:r>
            <a:r>
              <a:rPr lang="en-US" b="1" i="1" dirty="0">
                <a:solidFill>
                  <a:srgbClr val="000000"/>
                </a:solidFill>
                <a:latin typeface="Source Sans Pro"/>
              </a:rPr>
              <a:t> 2014</a:t>
            </a:r>
            <a:endParaRPr lang="en-US" b="1" dirty="0">
              <a:solidFill>
                <a:srgbClr val="000000"/>
              </a:solidFill>
              <a:latin typeface="Source Sans Pro"/>
            </a:endParaRPr>
          </a:p>
          <a:p>
            <a:pPr algn="r"/>
            <a:r>
              <a:rPr lang="en-US" b="1" i="1" dirty="0">
                <a:solidFill>
                  <a:srgbClr val="000000"/>
                </a:solidFill>
                <a:latin typeface="Source Sans Pro"/>
              </a:rPr>
              <a:t>(</a:t>
            </a:r>
            <a:r>
              <a:rPr lang="en-US" b="1" i="1" dirty="0" err="1">
                <a:solidFill>
                  <a:srgbClr val="000000"/>
                </a:solidFill>
                <a:latin typeface="Source Sans Pro"/>
              </a:rPr>
              <a:t>Sumber</a:t>
            </a:r>
            <a:r>
              <a:rPr lang="en-US" b="1" i="1" dirty="0">
                <a:solidFill>
                  <a:srgbClr val="000000"/>
                </a:solidFill>
                <a:latin typeface="Source Sans Pro"/>
              </a:rPr>
              <a:t>: World Health Organization/WHO)</a:t>
            </a:r>
            <a:endParaRPr lang="en-US" b="1" dirty="0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3205594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Ketentuan</a:t>
            </a:r>
            <a:r>
              <a:rPr lang="en-US" sz="4000" dirty="0"/>
              <a:t> </a:t>
            </a:r>
            <a:r>
              <a:rPr lang="en-US" sz="4000" dirty="0" err="1"/>
              <a:t>Tempat</a:t>
            </a:r>
            <a:r>
              <a:rPr lang="en-US" sz="4000" dirty="0"/>
              <a:t> </a:t>
            </a:r>
            <a:r>
              <a:rPr lang="en-US" sz="4000" dirty="0" err="1"/>
              <a:t>Penelitian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00" y="1988494"/>
            <a:ext cx="11339989" cy="200721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Sekolahan</a:t>
            </a:r>
            <a:r>
              <a:rPr lang="en-US" dirty="0"/>
              <a:t> di </a:t>
            </a:r>
            <a:r>
              <a:rPr lang="en-US" dirty="0">
                <a:solidFill>
                  <a:srgbClr val="FF0000"/>
                </a:solidFill>
              </a:rPr>
              <a:t>PSTA </a:t>
            </a:r>
            <a:r>
              <a:rPr lang="en-US" dirty="0" err="1">
                <a:solidFill>
                  <a:srgbClr val="FF0000"/>
                </a:solidFill>
              </a:rPr>
              <a:t>Genap</a:t>
            </a:r>
            <a:r>
              <a:rPr lang="en-US" dirty="0">
                <a:solidFill>
                  <a:srgbClr val="FF0000"/>
                </a:solidFill>
              </a:rPr>
              <a:t> 2019/2020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Knowledge Management, Supply Chain Management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Customer Relationship Management</a:t>
            </a:r>
            <a:r>
              <a:rPr lang="en-US" dirty="0"/>
              <a:t>.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24999" y="8597477"/>
            <a:ext cx="3359997" cy="302068"/>
          </a:xfrm>
        </p:spPr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</a:t>
            </a:r>
            <a:r>
              <a:rPr lang="en-US" dirty="0" err="1"/>
              <a:t>Keilman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(A)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19992" y="8597476"/>
            <a:ext cx="3254997" cy="316650"/>
          </a:xfrm>
        </p:spPr>
        <p:txBody>
          <a:bodyPr/>
          <a:lstStyle/>
          <a:p>
            <a:r>
              <a:rPr lang="en-US" dirty="0"/>
              <a:t>IF-UNIKOM</a:t>
            </a:r>
          </a:p>
        </p:txBody>
      </p:sp>
    </p:spTree>
    <p:extLst>
      <p:ext uri="{BB962C8B-B14F-4D97-AF65-F5344CB8AC3E}">
        <p14:creationId xmlns:p14="http://schemas.microsoft.com/office/powerpoint/2010/main" val="203885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4547397" y="6023769"/>
            <a:ext cx="5167313" cy="414338"/>
          </a:xfrm>
          <a:ln/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sz="1600" b="0" dirty="0">
                <a:latin typeface="Arial" charset="0"/>
              </a:rPr>
              <a:t>Click to edit company slogan .</a:t>
            </a: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4013994" y="4956969"/>
            <a:ext cx="48768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3600" b="1" kern="10" dirty="0" err="1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/>
                <a:cs typeface="Arial"/>
              </a:rPr>
              <a:t>Terima</a:t>
            </a:r>
            <a:r>
              <a:rPr lang="en-US" sz="36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/>
                <a:cs typeface="Arial"/>
              </a:rPr>
              <a:t> </a:t>
            </a:r>
            <a:r>
              <a:rPr lang="en-US" sz="3600" b="1" kern="10" dirty="0" err="1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/>
                <a:cs typeface="Arial"/>
              </a:rPr>
              <a:t>Kasih</a:t>
            </a:r>
            <a:endParaRPr lang="en-US" sz="3600" b="1" kern="1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</p:bldLst>
  </p:timing>
</p:sld>
</file>

<file path=ppt/theme/theme1.xml><?xml version="1.0" encoding="utf-8"?>
<a:theme xmlns:a="http://schemas.openxmlformats.org/drawingml/2006/main" name="Abstrak Black">
  <a:themeElements>
    <a:clrScheme name="sample 3">
      <a:dk1>
        <a:srgbClr val="000000"/>
      </a:dk1>
      <a:lt1>
        <a:srgbClr val="FFFFFF"/>
      </a:lt1>
      <a:dk2>
        <a:srgbClr val="1B4E63"/>
      </a:dk2>
      <a:lt2>
        <a:srgbClr val="DDDDDD"/>
      </a:lt2>
      <a:accent1>
        <a:srgbClr val="328C83"/>
      </a:accent1>
      <a:accent2>
        <a:srgbClr val="DC8300"/>
      </a:accent2>
      <a:accent3>
        <a:srgbClr val="FFFFFF"/>
      </a:accent3>
      <a:accent4>
        <a:srgbClr val="000000"/>
      </a:accent4>
      <a:accent5>
        <a:srgbClr val="ADC5C1"/>
      </a:accent5>
      <a:accent6>
        <a:srgbClr val="C77600"/>
      </a:accent6>
      <a:hlink>
        <a:srgbClr val="9DC03C"/>
      </a:hlink>
      <a:folHlink>
        <a:srgbClr val="2F87D7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000066"/>
        </a:dk1>
        <a:lt1>
          <a:srgbClr val="FFFFFF"/>
        </a:lt1>
        <a:dk2>
          <a:srgbClr val="003399"/>
        </a:dk2>
        <a:lt2>
          <a:srgbClr val="DDDDDD"/>
        </a:lt2>
        <a:accent1>
          <a:srgbClr val="1088C4"/>
        </a:accent1>
        <a:accent2>
          <a:srgbClr val="20A286"/>
        </a:accent2>
        <a:accent3>
          <a:srgbClr val="FFFFFF"/>
        </a:accent3>
        <a:accent4>
          <a:srgbClr val="000056"/>
        </a:accent4>
        <a:accent5>
          <a:srgbClr val="AAC3DE"/>
        </a:accent5>
        <a:accent6>
          <a:srgbClr val="1C9279"/>
        </a:accent6>
        <a:hlink>
          <a:srgbClr val="9999FF"/>
        </a:hlink>
        <a:folHlink>
          <a:srgbClr val="D5785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10B66"/>
        </a:dk1>
        <a:lt1>
          <a:srgbClr val="FFFFFF"/>
        </a:lt1>
        <a:dk2>
          <a:srgbClr val="8D4FBB"/>
        </a:dk2>
        <a:lt2>
          <a:srgbClr val="B2B2B2"/>
        </a:lt2>
        <a:accent1>
          <a:srgbClr val="1263B4"/>
        </a:accent1>
        <a:accent2>
          <a:srgbClr val="6BC394"/>
        </a:accent2>
        <a:accent3>
          <a:srgbClr val="FFFFFF"/>
        </a:accent3>
        <a:accent4>
          <a:srgbClr val="1B0856"/>
        </a:accent4>
        <a:accent5>
          <a:srgbClr val="AAB7D6"/>
        </a:accent5>
        <a:accent6>
          <a:srgbClr val="60B086"/>
        </a:accent6>
        <a:hlink>
          <a:srgbClr val="ABAE3E"/>
        </a:hlink>
        <a:folHlink>
          <a:srgbClr val="66B6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00"/>
        </a:dk1>
        <a:lt1>
          <a:srgbClr val="FFFFFF"/>
        </a:lt1>
        <a:dk2>
          <a:srgbClr val="1B4E63"/>
        </a:dk2>
        <a:lt2>
          <a:srgbClr val="DDDDDD"/>
        </a:lt2>
        <a:accent1>
          <a:srgbClr val="328C83"/>
        </a:accent1>
        <a:accent2>
          <a:srgbClr val="DC8300"/>
        </a:accent2>
        <a:accent3>
          <a:srgbClr val="FFFFFF"/>
        </a:accent3>
        <a:accent4>
          <a:srgbClr val="000000"/>
        </a:accent4>
        <a:accent5>
          <a:srgbClr val="ADC5C1"/>
        </a:accent5>
        <a:accent6>
          <a:srgbClr val="C77600"/>
        </a:accent6>
        <a:hlink>
          <a:srgbClr val="9DC03C"/>
        </a:hlink>
        <a:folHlink>
          <a:srgbClr val="2F87D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3729</TotalTime>
  <Words>916</Words>
  <Application>Microsoft Office PowerPoint</Application>
  <PresentationFormat>Custom</PresentationFormat>
  <Paragraphs>139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Source Sans Pro</vt:lpstr>
      <vt:lpstr>Times New Roman</vt:lpstr>
      <vt:lpstr>Verdana</vt:lpstr>
      <vt:lpstr>Wingdings</vt:lpstr>
      <vt:lpstr>Abstrak Black</vt:lpstr>
      <vt:lpstr>Image</vt:lpstr>
      <vt:lpstr>Sosialisasi Kelompok Keilmuan (KK)  Sistem Informasi</vt:lpstr>
      <vt:lpstr>Kelompok Keilmuan Sistem Informasi</vt:lpstr>
      <vt:lpstr>Level Manajemen </vt:lpstr>
      <vt:lpstr>Syarat Proposal KK A (1)</vt:lpstr>
      <vt:lpstr>Syarat Proposal KK A (2)</vt:lpstr>
      <vt:lpstr>Syarat Proposal KK A (3)</vt:lpstr>
      <vt:lpstr>Fish Bone Penelitian Skripsi KK A</vt:lpstr>
      <vt:lpstr>Syarat SCM</vt:lpstr>
      <vt:lpstr>Lingkup SCM</vt:lpstr>
      <vt:lpstr>Syarat CRM</vt:lpstr>
      <vt:lpstr>Komponen CRM</vt:lpstr>
      <vt:lpstr>Batasan Penelitian SIM</vt:lpstr>
      <vt:lpstr>Keluaran Sistem Manajemen Proyek</vt:lpstr>
      <vt:lpstr>Syarat SIG</vt:lpstr>
      <vt:lpstr>Komponen SIG</vt:lpstr>
      <vt:lpstr>Contoh SIG (1)</vt:lpstr>
      <vt:lpstr>Contoh SIG (2)</vt:lpstr>
      <vt:lpstr>Ketentuan Tempat Penelitian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ALGORITMA DAN PEMROGRAMAN Silabus</dc:title>
  <dc:creator>DosenIF-1</dc:creator>
  <cp:lastModifiedBy>Rendi Resmawandi</cp:lastModifiedBy>
  <cp:revision>249</cp:revision>
  <dcterms:created xsi:type="dcterms:W3CDTF">2012-09-16T07:54:25Z</dcterms:created>
  <dcterms:modified xsi:type="dcterms:W3CDTF">2020-11-09T02:53:19Z</dcterms:modified>
</cp:coreProperties>
</file>